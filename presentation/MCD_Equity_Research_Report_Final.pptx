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D7DA"/>
    <a:srgbClr val="E2EF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1" d="100"/>
          <a:sy n="71" d="100"/>
        </p:scale>
        <p:origin x="1444"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Challma" userId="62f18a64-c7d9-4ea4-aa0e-d2c5e5ea7ed3" providerId="ADAL" clId="{55C6787A-C5F1-40BA-AB5E-92F0C42F362A}"/>
    <pc:docChg chg="undo custSel modSld">
      <pc:chgData name="William Challma" userId="62f18a64-c7d9-4ea4-aa0e-d2c5e5ea7ed3" providerId="ADAL" clId="{55C6787A-C5F1-40BA-AB5E-92F0C42F362A}" dt="2026-09-27T14:41:52.937" v="54" actId="20577"/>
      <pc:docMkLst>
        <pc:docMk/>
      </pc:docMkLst>
      <pc:sldChg chg="modSp mod">
        <pc:chgData name="William Challma" userId="62f18a64-c7d9-4ea4-aa0e-d2c5e5ea7ed3" providerId="ADAL" clId="{55C6787A-C5F1-40BA-AB5E-92F0C42F362A}" dt="2026-09-27T14:41:52.937" v="54" actId="20577"/>
        <pc:sldMkLst>
          <pc:docMk/>
          <pc:sldMk cId="0" sldId="259"/>
        </pc:sldMkLst>
        <pc:spChg chg="mod">
          <ac:chgData name="William Challma" userId="62f18a64-c7d9-4ea4-aa0e-d2c5e5ea7ed3" providerId="ADAL" clId="{55C6787A-C5F1-40BA-AB5E-92F0C42F362A}" dt="2026-09-27T12:21:58.194" v="21" actId="1036"/>
          <ac:spMkLst>
            <pc:docMk/>
            <pc:sldMk cId="0" sldId="259"/>
            <ac:spMk id="21" creationId="{00000000-0000-0000-0000-000000000000}"/>
          </ac:spMkLst>
        </pc:spChg>
        <pc:graphicFrameChg chg="modGraphic">
          <ac:chgData name="William Challma" userId="62f18a64-c7d9-4ea4-aa0e-d2c5e5ea7ed3" providerId="ADAL" clId="{55C6787A-C5F1-40BA-AB5E-92F0C42F362A}" dt="2026-09-27T14:41:52.937" v="54" actId="20577"/>
          <ac:graphicFrameMkLst>
            <pc:docMk/>
            <pc:sldMk cId="0" sldId="259"/>
            <ac:graphicFrameMk id="20" creationId="{00000000-0000-0000-0000-000000000000}"/>
          </ac:graphicFrameMkLst>
        </pc:graphicFrameChg>
      </pc:sldChg>
      <pc:sldChg chg="modSp mod">
        <pc:chgData name="William Challma" userId="62f18a64-c7d9-4ea4-aa0e-d2c5e5ea7ed3" providerId="ADAL" clId="{55C6787A-C5F1-40BA-AB5E-92F0C42F362A}" dt="2026-09-27T12:22:28.578" v="25" actId="20577"/>
        <pc:sldMkLst>
          <pc:docMk/>
          <pc:sldMk cId="0" sldId="260"/>
        </pc:sldMkLst>
        <pc:spChg chg="mod">
          <ac:chgData name="William Challma" userId="62f18a64-c7d9-4ea4-aa0e-d2c5e5ea7ed3" providerId="ADAL" clId="{55C6787A-C5F1-40BA-AB5E-92F0C42F362A}" dt="2026-09-27T12:22:28.578" v="25" actId="20577"/>
          <ac:spMkLst>
            <pc:docMk/>
            <pc:sldMk cId="0" sldId="260"/>
            <ac:spMk id="62" creationId="{00000000-0000-0000-0000-000000000000}"/>
          </ac:spMkLst>
        </pc:spChg>
        <pc:graphicFrameChg chg="modGraphic">
          <ac:chgData name="William Challma" userId="62f18a64-c7d9-4ea4-aa0e-d2c5e5ea7ed3" providerId="ADAL" clId="{55C6787A-C5F1-40BA-AB5E-92F0C42F362A}" dt="2026-09-26T18:31:34.221" v="18" actId="207"/>
          <ac:graphicFrameMkLst>
            <pc:docMk/>
            <pc:sldMk cId="0" sldId="260"/>
            <ac:graphicFrameMk id="61" creationId="{00000000-0000-0000-0000-000000000000}"/>
          </ac:graphicFrameMkLst>
        </pc:graphicFrameChg>
        <pc:graphicFrameChg chg="modGraphic">
          <ac:chgData name="William Challma" userId="62f18a64-c7d9-4ea4-aa0e-d2c5e5ea7ed3" providerId="ADAL" clId="{55C6787A-C5F1-40BA-AB5E-92F0C42F362A}" dt="2026-09-26T18:30:30.078" v="0" actId="207"/>
          <ac:graphicFrameMkLst>
            <pc:docMk/>
            <pc:sldMk cId="0" sldId="260"/>
            <ac:graphicFrameMk id="63"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MCD daily close</c:v>
                </c:pt>
              </c:strCache>
            </c:strRef>
          </c:tx>
          <c:spPr>
            <a:ln w="19050" cap="flat">
              <a:solidFill>
                <a:srgbClr val="1F3864"/>
              </a:solidFill>
              <a:prstDash val="solid"/>
              <a:round/>
            </a:ln>
            <a:effectLst/>
          </c:spPr>
          <c:marker>
            <c:symbol val="none"/>
          </c:marker>
          <c:cat>
            <c:strRef>
              <c:f>Sheet1!$A$2:$A$50</c:f>
              <c:strCache>
                <c:ptCount val="49"/>
                <c:pt idx="0">
                  <c:v>17-Jul</c:v>
                </c:pt>
                <c:pt idx="1">
                  <c:v>20-Jul</c:v>
                </c:pt>
                <c:pt idx="2">
                  <c:v>21-Jul</c:v>
                </c:pt>
                <c:pt idx="3">
                  <c:v>22-Jul</c:v>
                </c:pt>
                <c:pt idx="4">
                  <c:v>23-Jul</c:v>
                </c:pt>
                <c:pt idx="5">
                  <c:v>24-Jul</c:v>
                </c:pt>
                <c:pt idx="6">
                  <c:v>27-Jul</c:v>
                </c:pt>
                <c:pt idx="7">
                  <c:v>28-Jul</c:v>
                </c:pt>
                <c:pt idx="8">
                  <c:v>29-Jul</c:v>
                </c:pt>
                <c:pt idx="9">
                  <c:v>30-Jul</c:v>
                </c:pt>
                <c:pt idx="10">
                  <c:v>31-Jul</c:v>
                </c:pt>
                <c:pt idx="11">
                  <c:v>3-Aug</c:v>
                </c:pt>
                <c:pt idx="12">
                  <c:v>4-Aug</c:v>
                </c:pt>
                <c:pt idx="13">
                  <c:v>5-Aug</c:v>
                </c:pt>
                <c:pt idx="14">
                  <c:v>6-Aug</c:v>
                </c:pt>
                <c:pt idx="15">
                  <c:v>7-Aug</c:v>
                </c:pt>
                <c:pt idx="16">
                  <c:v>10-Aug</c:v>
                </c:pt>
                <c:pt idx="17">
                  <c:v>11-Aug</c:v>
                </c:pt>
                <c:pt idx="18">
                  <c:v>12-Aug</c:v>
                </c:pt>
                <c:pt idx="19">
                  <c:v>13-Aug</c:v>
                </c:pt>
                <c:pt idx="20">
                  <c:v>14-Aug</c:v>
                </c:pt>
                <c:pt idx="21">
                  <c:v>17-Aug</c:v>
                </c:pt>
                <c:pt idx="22">
                  <c:v>18-Aug</c:v>
                </c:pt>
                <c:pt idx="23">
                  <c:v>19-Aug</c:v>
                </c:pt>
                <c:pt idx="24">
                  <c:v>20-Aug</c:v>
                </c:pt>
                <c:pt idx="25">
                  <c:v>21-Aug</c:v>
                </c:pt>
                <c:pt idx="26">
                  <c:v>24-Aug</c:v>
                </c:pt>
                <c:pt idx="27">
                  <c:v>25-Aug</c:v>
                </c:pt>
                <c:pt idx="28">
                  <c:v>26-Aug</c:v>
                </c:pt>
                <c:pt idx="29">
                  <c:v>27-Aug</c:v>
                </c:pt>
                <c:pt idx="30">
                  <c:v>28-Aug</c:v>
                </c:pt>
                <c:pt idx="31">
                  <c:v>31-Aug</c:v>
                </c:pt>
                <c:pt idx="32">
                  <c:v>1-Sep</c:v>
                </c:pt>
                <c:pt idx="33">
                  <c:v>2-Sep</c:v>
                </c:pt>
                <c:pt idx="34">
                  <c:v>3-Sep</c:v>
                </c:pt>
                <c:pt idx="35">
                  <c:v>4-Sep</c:v>
                </c:pt>
                <c:pt idx="36">
                  <c:v>8-Sep</c:v>
                </c:pt>
                <c:pt idx="37">
                  <c:v>9-Sep</c:v>
                </c:pt>
                <c:pt idx="38">
                  <c:v>10-Sep</c:v>
                </c:pt>
                <c:pt idx="39">
                  <c:v>11-Sep</c:v>
                </c:pt>
                <c:pt idx="40">
                  <c:v>14-Sep</c:v>
                </c:pt>
                <c:pt idx="41">
                  <c:v>15-Sep</c:v>
                </c:pt>
                <c:pt idx="42">
                  <c:v>16-Sep</c:v>
                </c:pt>
                <c:pt idx="43">
                  <c:v>17-Sep</c:v>
                </c:pt>
                <c:pt idx="44">
                  <c:v>18-Sep</c:v>
                </c:pt>
                <c:pt idx="45">
                  <c:v>21-Sep</c:v>
                </c:pt>
                <c:pt idx="46">
                  <c:v>22-Sep</c:v>
                </c:pt>
                <c:pt idx="47">
                  <c:v>23-Sep</c:v>
                </c:pt>
                <c:pt idx="48">
                  <c:v>24-Sep</c:v>
                </c:pt>
              </c:strCache>
            </c:strRef>
          </c:cat>
          <c:val>
            <c:numRef>
              <c:f>Sheet1!$B$2:$B$50</c:f>
              <c:numCache>
                <c:formatCode>General</c:formatCode>
                <c:ptCount val="49"/>
                <c:pt idx="0">
                  <c:v>267.70999999999998</c:v>
                </c:pt>
                <c:pt idx="1">
                  <c:v>267.64</c:v>
                </c:pt>
                <c:pt idx="2">
                  <c:v>263.91000000000003</c:v>
                </c:pt>
                <c:pt idx="3">
                  <c:v>263.57</c:v>
                </c:pt>
                <c:pt idx="4">
                  <c:v>262.8</c:v>
                </c:pt>
                <c:pt idx="5">
                  <c:v>264.76</c:v>
                </c:pt>
                <c:pt idx="6">
                  <c:v>270.67</c:v>
                </c:pt>
                <c:pt idx="7">
                  <c:v>273.02</c:v>
                </c:pt>
                <c:pt idx="8">
                  <c:v>271.52</c:v>
                </c:pt>
                <c:pt idx="9">
                  <c:v>268.44</c:v>
                </c:pt>
                <c:pt idx="10">
                  <c:v>270.64</c:v>
                </c:pt>
                <c:pt idx="11">
                  <c:v>265.23</c:v>
                </c:pt>
                <c:pt idx="12">
                  <c:v>268.33999999999997</c:v>
                </c:pt>
                <c:pt idx="13">
                  <c:v>274</c:v>
                </c:pt>
                <c:pt idx="14">
                  <c:v>276.26</c:v>
                </c:pt>
                <c:pt idx="15">
                  <c:v>274.48</c:v>
                </c:pt>
                <c:pt idx="16">
                  <c:v>273.72000000000003</c:v>
                </c:pt>
                <c:pt idx="17">
                  <c:v>274.14999999999998</c:v>
                </c:pt>
                <c:pt idx="18">
                  <c:v>275.7</c:v>
                </c:pt>
                <c:pt idx="19">
                  <c:v>272.25</c:v>
                </c:pt>
                <c:pt idx="20">
                  <c:v>272.83</c:v>
                </c:pt>
                <c:pt idx="21">
                  <c:v>265.52999999999997</c:v>
                </c:pt>
                <c:pt idx="22">
                  <c:v>266.99</c:v>
                </c:pt>
                <c:pt idx="23">
                  <c:v>267.45</c:v>
                </c:pt>
                <c:pt idx="24">
                  <c:v>269.13</c:v>
                </c:pt>
                <c:pt idx="25">
                  <c:v>270.95</c:v>
                </c:pt>
                <c:pt idx="26">
                  <c:v>272.54000000000002</c:v>
                </c:pt>
                <c:pt idx="27">
                  <c:v>268.10000000000002</c:v>
                </c:pt>
                <c:pt idx="28">
                  <c:v>266.93</c:v>
                </c:pt>
                <c:pt idx="29">
                  <c:v>260.06</c:v>
                </c:pt>
                <c:pt idx="30">
                  <c:v>265</c:v>
                </c:pt>
                <c:pt idx="31">
                  <c:v>263.54000000000002</c:v>
                </c:pt>
                <c:pt idx="32">
                  <c:v>261.11</c:v>
                </c:pt>
                <c:pt idx="33">
                  <c:v>260.95</c:v>
                </c:pt>
                <c:pt idx="34">
                  <c:v>259.63</c:v>
                </c:pt>
                <c:pt idx="35">
                  <c:v>255.69</c:v>
                </c:pt>
                <c:pt idx="36">
                  <c:v>255.81</c:v>
                </c:pt>
                <c:pt idx="37">
                  <c:v>253.48</c:v>
                </c:pt>
                <c:pt idx="38">
                  <c:v>253.05</c:v>
                </c:pt>
                <c:pt idx="39">
                  <c:v>252.53</c:v>
                </c:pt>
                <c:pt idx="40">
                  <c:v>257.49</c:v>
                </c:pt>
                <c:pt idx="41">
                  <c:v>252.78</c:v>
                </c:pt>
                <c:pt idx="42">
                  <c:v>248.56</c:v>
                </c:pt>
                <c:pt idx="43">
                  <c:v>248.48</c:v>
                </c:pt>
                <c:pt idx="44">
                  <c:v>248.24</c:v>
                </c:pt>
                <c:pt idx="45">
                  <c:v>247.88</c:v>
                </c:pt>
                <c:pt idx="46">
                  <c:v>250.35</c:v>
                </c:pt>
                <c:pt idx="47">
                  <c:v>238.32</c:v>
                </c:pt>
                <c:pt idx="48">
                  <c:v>237.02</c:v>
                </c:pt>
              </c:numCache>
            </c:numRef>
          </c:val>
          <c:smooth val="0"/>
          <c:extLst>
            <c:ext xmlns:c16="http://schemas.microsoft.com/office/drawing/2014/chart" uri="{C3380CC4-5D6E-409C-BE32-E72D297353CC}">
              <c16:uniqueId val="{00000000-F962-4E46-B88E-C4CE0061DD43}"/>
            </c:ext>
          </c:extLst>
        </c:ser>
        <c:ser>
          <c:idx val="1"/>
          <c:order val="1"/>
          <c:tx>
            <c:strRef>
              <c:f>Sheet1!$C$1</c:f>
              <c:strCache>
                <c:ptCount val="1"/>
                <c:pt idx="0">
                  <c:v>Target $249</c:v>
                </c:pt>
              </c:strCache>
            </c:strRef>
          </c:tx>
          <c:spPr>
            <a:ln w="19050" cap="flat">
              <a:solidFill>
                <a:srgbClr val="C00000"/>
              </a:solidFill>
              <a:prstDash val="solid"/>
              <a:round/>
            </a:ln>
            <a:effectLst/>
          </c:spPr>
          <c:marker>
            <c:symbol val="none"/>
          </c:marker>
          <c:cat>
            <c:strRef>
              <c:f>Sheet1!$A$2:$A$50</c:f>
              <c:strCache>
                <c:ptCount val="49"/>
                <c:pt idx="0">
                  <c:v>17-Jul</c:v>
                </c:pt>
                <c:pt idx="1">
                  <c:v>20-Jul</c:v>
                </c:pt>
                <c:pt idx="2">
                  <c:v>21-Jul</c:v>
                </c:pt>
                <c:pt idx="3">
                  <c:v>22-Jul</c:v>
                </c:pt>
                <c:pt idx="4">
                  <c:v>23-Jul</c:v>
                </c:pt>
                <c:pt idx="5">
                  <c:v>24-Jul</c:v>
                </c:pt>
                <c:pt idx="6">
                  <c:v>27-Jul</c:v>
                </c:pt>
                <c:pt idx="7">
                  <c:v>28-Jul</c:v>
                </c:pt>
                <c:pt idx="8">
                  <c:v>29-Jul</c:v>
                </c:pt>
                <c:pt idx="9">
                  <c:v>30-Jul</c:v>
                </c:pt>
                <c:pt idx="10">
                  <c:v>31-Jul</c:v>
                </c:pt>
                <c:pt idx="11">
                  <c:v>3-Aug</c:v>
                </c:pt>
                <c:pt idx="12">
                  <c:v>4-Aug</c:v>
                </c:pt>
                <c:pt idx="13">
                  <c:v>5-Aug</c:v>
                </c:pt>
                <c:pt idx="14">
                  <c:v>6-Aug</c:v>
                </c:pt>
                <c:pt idx="15">
                  <c:v>7-Aug</c:v>
                </c:pt>
                <c:pt idx="16">
                  <c:v>10-Aug</c:v>
                </c:pt>
                <c:pt idx="17">
                  <c:v>11-Aug</c:v>
                </c:pt>
                <c:pt idx="18">
                  <c:v>12-Aug</c:v>
                </c:pt>
                <c:pt idx="19">
                  <c:v>13-Aug</c:v>
                </c:pt>
                <c:pt idx="20">
                  <c:v>14-Aug</c:v>
                </c:pt>
                <c:pt idx="21">
                  <c:v>17-Aug</c:v>
                </c:pt>
                <c:pt idx="22">
                  <c:v>18-Aug</c:v>
                </c:pt>
                <c:pt idx="23">
                  <c:v>19-Aug</c:v>
                </c:pt>
                <c:pt idx="24">
                  <c:v>20-Aug</c:v>
                </c:pt>
                <c:pt idx="25">
                  <c:v>21-Aug</c:v>
                </c:pt>
                <c:pt idx="26">
                  <c:v>24-Aug</c:v>
                </c:pt>
                <c:pt idx="27">
                  <c:v>25-Aug</c:v>
                </c:pt>
                <c:pt idx="28">
                  <c:v>26-Aug</c:v>
                </c:pt>
                <c:pt idx="29">
                  <c:v>27-Aug</c:v>
                </c:pt>
                <c:pt idx="30">
                  <c:v>28-Aug</c:v>
                </c:pt>
                <c:pt idx="31">
                  <c:v>31-Aug</c:v>
                </c:pt>
                <c:pt idx="32">
                  <c:v>1-Sep</c:v>
                </c:pt>
                <c:pt idx="33">
                  <c:v>2-Sep</c:v>
                </c:pt>
                <c:pt idx="34">
                  <c:v>3-Sep</c:v>
                </c:pt>
                <c:pt idx="35">
                  <c:v>4-Sep</c:v>
                </c:pt>
                <c:pt idx="36">
                  <c:v>8-Sep</c:v>
                </c:pt>
                <c:pt idx="37">
                  <c:v>9-Sep</c:v>
                </c:pt>
                <c:pt idx="38">
                  <c:v>10-Sep</c:v>
                </c:pt>
                <c:pt idx="39">
                  <c:v>11-Sep</c:v>
                </c:pt>
                <c:pt idx="40">
                  <c:v>14-Sep</c:v>
                </c:pt>
                <c:pt idx="41">
                  <c:v>15-Sep</c:v>
                </c:pt>
                <c:pt idx="42">
                  <c:v>16-Sep</c:v>
                </c:pt>
                <c:pt idx="43">
                  <c:v>17-Sep</c:v>
                </c:pt>
                <c:pt idx="44">
                  <c:v>18-Sep</c:v>
                </c:pt>
                <c:pt idx="45">
                  <c:v>21-Sep</c:v>
                </c:pt>
                <c:pt idx="46">
                  <c:v>22-Sep</c:v>
                </c:pt>
                <c:pt idx="47">
                  <c:v>23-Sep</c:v>
                </c:pt>
                <c:pt idx="48">
                  <c:v>24-Sep</c:v>
                </c:pt>
              </c:strCache>
            </c:strRef>
          </c:cat>
          <c:val>
            <c:numRef>
              <c:f>Sheet1!$C$2:$C$50</c:f>
              <c:numCache>
                <c:formatCode>General</c:formatCode>
                <c:ptCount val="49"/>
                <c:pt idx="0">
                  <c:v>248.58</c:v>
                </c:pt>
                <c:pt idx="1">
                  <c:v>248.58</c:v>
                </c:pt>
                <c:pt idx="2">
                  <c:v>248.58</c:v>
                </c:pt>
                <c:pt idx="3">
                  <c:v>248.58</c:v>
                </c:pt>
                <c:pt idx="4">
                  <c:v>248.58</c:v>
                </c:pt>
                <c:pt idx="5">
                  <c:v>248.58</c:v>
                </c:pt>
                <c:pt idx="6">
                  <c:v>248.58</c:v>
                </c:pt>
                <c:pt idx="7">
                  <c:v>248.58</c:v>
                </c:pt>
                <c:pt idx="8">
                  <c:v>248.58</c:v>
                </c:pt>
                <c:pt idx="9">
                  <c:v>248.58</c:v>
                </c:pt>
                <c:pt idx="10">
                  <c:v>248.58</c:v>
                </c:pt>
                <c:pt idx="11">
                  <c:v>248.58</c:v>
                </c:pt>
                <c:pt idx="12">
                  <c:v>248.58</c:v>
                </c:pt>
                <c:pt idx="13">
                  <c:v>248.58</c:v>
                </c:pt>
                <c:pt idx="14">
                  <c:v>248.58</c:v>
                </c:pt>
                <c:pt idx="15">
                  <c:v>248.58</c:v>
                </c:pt>
                <c:pt idx="16">
                  <c:v>248.58</c:v>
                </c:pt>
                <c:pt idx="17">
                  <c:v>248.58</c:v>
                </c:pt>
                <c:pt idx="18">
                  <c:v>248.58</c:v>
                </c:pt>
                <c:pt idx="19">
                  <c:v>248.58</c:v>
                </c:pt>
                <c:pt idx="20">
                  <c:v>248.58</c:v>
                </c:pt>
                <c:pt idx="21">
                  <c:v>248.58</c:v>
                </c:pt>
                <c:pt idx="22">
                  <c:v>248.58</c:v>
                </c:pt>
                <c:pt idx="23">
                  <c:v>248.58</c:v>
                </c:pt>
                <c:pt idx="24">
                  <c:v>248.58</c:v>
                </c:pt>
                <c:pt idx="25">
                  <c:v>248.58</c:v>
                </c:pt>
                <c:pt idx="26">
                  <c:v>248.58</c:v>
                </c:pt>
                <c:pt idx="27">
                  <c:v>248.58</c:v>
                </c:pt>
                <c:pt idx="28">
                  <c:v>248.58</c:v>
                </c:pt>
                <c:pt idx="29">
                  <c:v>248.58</c:v>
                </c:pt>
                <c:pt idx="30">
                  <c:v>248.58</c:v>
                </c:pt>
                <c:pt idx="31">
                  <c:v>248.58</c:v>
                </c:pt>
                <c:pt idx="32">
                  <c:v>248.58</c:v>
                </c:pt>
                <c:pt idx="33">
                  <c:v>248.58</c:v>
                </c:pt>
                <c:pt idx="34">
                  <c:v>248.58</c:v>
                </c:pt>
                <c:pt idx="35">
                  <c:v>248.58</c:v>
                </c:pt>
                <c:pt idx="36">
                  <c:v>248.58</c:v>
                </c:pt>
                <c:pt idx="37">
                  <c:v>248.58</c:v>
                </c:pt>
                <c:pt idx="38">
                  <c:v>248.58</c:v>
                </c:pt>
                <c:pt idx="39">
                  <c:v>248.58</c:v>
                </c:pt>
                <c:pt idx="40">
                  <c:v>248.58</c:v>
                </c:pt>
                <c:pt idx="41">
                  <c:v>248.58</c:v>
                </c:pt>
                <c:pt idx="42">
                  <c:v>248.58</c:v>
                </c:pt>
                <c:pt idx="43">
                  <c:v>248.58</c:v>
                </c:pt>
                <c:pt idx="44">
                  <c:v>248.58</c:v>
                </c:pt>
                <c:pt idx="45">
                  <c:v>248.58</c:v>
                </c:pt>
                <c:pt idx="46">
                  <c:v>248.58</c:v>
                </c:pt>
                <c:pt idx="47">
                  <c:v>248.58</c:v>
                </c:pt>
                <c:pt idx="48">
                  <c:v>248.58</c:v>
                </c:pt>
              </c:numCache>
            </c:numRef>
          </c:val>
          <c:smooth val="0"/>
          <c:extLst>
            <c:ext xmlns:c16="http://schemas.microsoft.com/office/drawing/2014/chart" uri="{C3380CC4-5D6E-409C-BE32-E72D297353CC}">
              <c16:uniqueId val="{00000001-F962-4E46-B88E-C4CE0061DD4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595959"/>
                </a:solidFill>
                <a:latin typeface="Arial"/>
              </a:defRPr>
            </a:pPr>
            <a:endParaRPr lang="en-US"/>
          </a:p>
        </c:txPr>
        <c:crossAx val="2094734552"/>
        <c:crosses val="autoZero"/>
        <c:auto val="1"/>
        <c:lblAlgn val="ctr"/>
        <c:lblOffset val="100"/>
        <c:tickLblSkip val="8"/>
        <c:noMultiLvlLbl val="1"/>
      </c:catAx>
      <c:valAx>
        <c:axId val="2094734552"/>
        <c:scaling>
          <c:orientation val="minMax"/>
          <c:max val="290"/>
          <c:min val="220"/>
        </c:scaling>
        <c:delete val="0"/>
        <c:axPos val="l"/>
        <c:majorGridlines>
          <c:spPr>
            <a:ln w="6350" cap="flat">
              <a:solidFill>
                <a:srgbClr val="E7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595959"/>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7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(US$bn)</c:v>
                </c:pt>
              </c:strCache>
            </c:strRef>
          </c:tx>
          <c:spPr>
            <a:solidFill>
              <a:srgbClr val="1F3864"/>
            </a:solidFill>
            <a:effectLst/>
          </c:spPr>
          <c:invertIfNegative val="0"/>
          <c:cat>
            <c:strRef>
              <c:f>Sheet1!$A$2:$A$11</c:f>
              <c:strCache>
                <c:ptCount val="10"/>
                <c:pt idx="0">
                  <c:v>FY21</c:v>
                </c:pt>
                <c:pt idx="1">
                  <c:v>FY22</c:v>
                </c:pt>
                <c:pt idx="2">
                  <c:v>FY23</c:v>
                </c:pt>
                <c:pt idx="3">
                  <c:v>FY24</c:v>
                </c:pt>
                <c:pt idx="4">
                  <c:v>FY25</c:v>
                </c:pt>
                <c:pt idx="5">
                  <c:v>FY26E</c:v>
                </c:pt>
                <c:pt idx="6">
                  <c:v>FY27E</c:v>
                </c:pt>
                <c:pt idx="7">
                  <c:v>FY28E</c:v>
                </c:pt>
                <c:pt idx="8">
                  <c:v>FY29E</c:v>
                </c:pt>
                <c:pt idx="9">
                  <c:v>FY30E</c:v>
                </c:pt>
              </c:strCache>
            </c:strRef>
          </c:cat>
          <c:val>
            <c:numRef>
              <c:f>Sheet1!$B$2:$B$11</c:f>
              <c:numCache>
                <c:formatCode>General</c:formatCode>
                <c:ptCount val="10"/>
                <c:pt idx="0">
                  <c:v>23.2</c:v>
                </c:pt>
                <c:pt idx="1">
                  <c:v>23.2</c:v>
                </c:pt>
                <c:pt idx="2">
                  <c:v>25.5</c:v>
                </c:pt>
                <c:pt idx="3">
                  <c:v>25.9</c:v>
                </c:pt>
                <c:pt idx="4">
                  <c:v>26.9</c:v>
                </c:pt>
                <c:pt idx="5">
                  <c:v>28.4</c:v>
                </c:pt>
                <c:pt idx="6">
                  <c:v>28.2</c:v>
                </c:pt>
                <c:pt idx="7">
                  <c:v>28.2</c:v>
                </c:pt>
                <c:pt idx="8">
                  <c:v>29.3</c:v>
                </c:pt>
                <c:pt idx="9">
                  <c:v>30.6</c:v>
                </c:pt>
              </c:numCache>
            </c:numRef>
          </c:val>
          <c:extLst>
            <c:ext xmlns:c16="http://schemas.microsoft.com/office/drawing/2014/chart" uri="{C3380CC4-5D6E-409C-BE32-E72D297353CC}">
              <c16:uniqueId val="{00000000-DE03-4BDC-9E86-9E1227AA6039}"/>
            </c:ext>
          </c:extLst>
        </c:ser>
        <c:dLbls>
          <c:showLegendKey val="0"/>
          <c:showVal val="0"/>
          <c:showCatName val="0"/>
          <c:showSerName val="0"/>
          <c:showPercent val="0"/>
          <c:showBubbleSize val="0"/>
        </c:dLbls>
        <c:gapWidth val="45"/>
        <c:axId val="2094734554"/>
        <c:axId val="2094734552"/>
      </c:barChart>
      <c:lineChart>
        <c:grouping val="standard"/>
        <c:varyColors val="0"/>
        <c:ser>
          <c:idx val="1"/>
          <c:order val="1"/>
          <c:tx>
            <c:strRef>
              <c:f>Sheet1!$C$1</c:f>
              <c:strCache>
                <c:ptCount val="1"/>
                <c:pt idx="0">
                  <c:v>Adjusted operating margin</c:v>
                </c:pt>
              </c:strCache>
            </c:strRef>
          </c:tx>
          <c:spPr>
            <a:ln w="25400" cap="flat">
              <a:solidFill>
                <a:srgbClr val="C9A227"/>
              </a:solidFill>
              <a:prstDash val="solid"/>
              <a:round/>
            </a:ln>
            <a:effectLst/>
          </c:spPr>
          <c:marker>
            <c:symbol val="circle"/>
            <c:size val="4"/>
            <c:spPr>
              <a:solidFill>
                <a:srgbClr val="C9A227"/>
              </a:solidFill>
              <a:ln w="9525" cap="flat">
                <a:solidFill>
                  <a:srgbClr val="C9A227"/>
                </a:solidFill>
                <a:prstDash val="solid"/>
                <a:round/>
              </a:ln>
              <a:effectLst/>
            </c:spPr>
          </c:marker>
          <c:cat>
            <c:strRef>
              <c:f>Sheet1!$A$2:$A$11</c:f>
              <c:strCache>
                <c:ptCount val="10"/>
                <c:pt idx="0">
                  <c:v>FY21</c:v>
                </c:pt>
                <c:pt idx="1">
                  <c:v>FY22</c:v>
                </c:pt>
                <c:pt idx="2">
                  <c:v>FY23</c:v>
                </c:pt>
                <c:pt idx="3">
                  <c:v>FY24</c:v>
                </c:pt>
                <c:pt idx="4">
                  <c:v>FY25</c:v>
                </c:pt>
                <c:pt idx="5">
                  <c:v>FY26E</c:v>
                </c:pt>
                <c:pt idx="6">
                  <c:v>FY27E</c:v>
                </c:pt>
                <c:pt idx="7">
                  <c:v>FY28E</c:v>
                </c:pt>
                <c:pt idx="8">
                  <c:v>FY29E</c:v>
                </c:pt>
                <c:pt idx="9">
                  <c:v>FY30E</c:v>
                </c:pt>
              </c:strCache>
            </c:strRef>
          </c:cat>
          <c:val>
            <c:numRef>
              <c:f>Sheet1!$C$2:$C$11</c:f>
              <c:numCache>
                <c:formatCode>General</c:formatCode>
                <c:ptCount val="10"/>
                <c:pt idx="0">
                  <c:v>0.434</c:v>
                </c:pt>
                <c:pt idx="1">
                  <c:v>0.44800000000000001</c:v>
                </c:pt>
                <c:pt idx="2">
                  <c:v>0.47099999999999997</c:v>
                </c:pt>
                <c:pt idx="3">
                  <c:v>0.46300000000000002</c:v>
                </c:pt>
                <c:pt idx="4">
                  <c:v>0.46899999999999997</c:v>
                </c:pt>
                <c:pt idx="5">
                  <c:v>0.47</c:v>
                </c:pt>
                <c:pt idx="6">
                  <c:v>0.495</c:v>
                </c:pt>
                <c:pt idx="7">
                  <c:v>0.51500000000000001</c:v>
                </c:pt>
                <c:pt idx="8">
                  <c:v>0.52500000000000002</c:v>
                </c:pt>
                <c:pt idx="9">
                  <c:v>0.53</c:v>
                </c:pt>
              </c:numCache>
            </c:numRef>
          </c:val>
          <c:smooth val="0"/>
          <c:extLst>
            <c:ext xmlns:c16="http://schemas.microsoft.com/office/drawing/2014/chart" uri="{C3380CC4-5D6E-409C-BE32-E72D297353CC}">
              <c16:uniqueId val="{00000001-DE03-4BDC-9E86-9E1227AA6039}"/>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6350"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595959"/>
                </a:solidFill>
                <a:latin typeface="Arial"/>
              </a:defRPr>
            </a:pPr>
            <a:endParaRPr lang="en-US"/>
          </a:p>
        </c:txPr>
        <c:crossAx val="2094734554"/>
        <c:crosses val="autoZero"/>
        <c:crossBetween val="between"/>
        <c:majorUnit val="5"/>
      </c:valAx>
      <c:valAx>
        <c:axId val="2094734553"/>
        <c:scaling>
          <c:orientation val="minMax"/>
          <c:max val="0.55000000000000004"/>
          <c:min val="0.4"/>
        </c:scaling>
        <c:delete val="0"/>
        <c:axPos val="r"/>
        <c:numFmt formatCode="0%"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595959"/>
                </a:solidFill>
                <a:latin typeface="Arial"/>
              </a:defRPr>
            </a:pPr>
            <a:endParaRPr lang="en-US"/>
          </a:p>
        </c:txPr>
        <c:crossAx val="2094734555"/>
        <c:crosses val="max"/>
        <c:crossBetween val="between"/>
        <c:majorUnit val="0.05"/>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a:noFill/>
        </a:ln>
        <a:effectLst/>
      </c:spPr>
    </c:plotArea>
    <c:legend>
      <c:legendPos val="b"/>
      <c:overlay val="0"/>
      <c:txPr>
        <a:bodyPr/>
        <a:lstStyle/>
        <a:p>
          <a:pPr>
            <a:defRPr sz="7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00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228600"/>
            <a:ext cx="4937760" cy="164592"/>
          </a:xfrm>
          <a:prstGeom prst="rect">
            <a:avLst/>
          </a:prstGeom>
          <a:noFill/>
          <a:ln/>
        </p:spPr>
        <p:txBody>
          <a:bodyPr wrap="square" lIns="0" tIns="0" rIns="0" bIns="0" rtlCol="0" anchor="t"/>
          <a:lstStyle/>
          <a:p>
            <a:pPr marL="0" indent="0">
              <a:buNone/>
            </a:pPr>
            <a:r>
              <a:rPr lang="en-US" sz="700" b="1" dirty="0">
                <a:solidFill>
                  <a:srgbClr val="595959"/>
                </a:solidFill>
                <a:latin typeface="Arial" pitchFamily="34" charset="0"/>
                <a:ea typeface="Arial" pitchFamily="34" charset="-122"/>
                <a:cs typeface="Arial" pitchFamily="34" charset="-120"/>
              </a:rPr>
              <a:t>McDONALD'S CORPORATION (NYSE: MCD)  |  EQUITY RESEARCH  |  US RESTAURANTS</a:t>
            </a:r>
            <a:endParaRPr lang="en-US" sz="700" dirty="0"/>
          </a:p>
        </p:txBody>
      </p:sp>
      <p:sp>
        <p:nvSpPr>
          <p:cNvPr id="3" name="Text 1"/>
          <p:cNvSpPr txBox="1"/>
          <p:nvPr/>
        </p:nvSpPr>
        <p:spPr>
          <a:xfrm>
            <a:off x="5074920" y="228600"/>
            <a:ext cx="2286000" cy="164592"/>
          </a:xfrm>
          <a:prstGeom prst="rect">
            <a:avLst/>
          </a:prstGeom>
          <a:noFill/>
          <a:ln/>
        </p:spPr>
        <p:txBody>
          <a:bodyPr wrap="square" lIns="0" tIns="0" rIns="0" bIns="0" rtlCol="0" anchor="t"/>
          <a:lstStyle/>
          <a:p>
            <a:pPr marL="0" indent="0" algn="r">
              <a:buNone/>
            </a:pPr>
            <a:r>
              <a:rPr lang="en-US" sz="700" dirty="0">
                <a:solidFill>
                  <a:srgbClr val="595959"/>
                </a:solidFill>
                <a:latin typeface="Arial" pitchFamily="34" charset="0"/>
                <a:ea typeface="Arial" pitchFamily="34" charset="-122"/>
                <a:cs typeface="Arial" pitchFamily="34" charset="-120"/>
              </a:rPr>
              <a:t>25 September 2026 (revised 26 September)</a:t>
            </a:r>
            <a:endParaRPr lang="en-US" sz="700" dirty="0"/>
          </a:p>
        </p:txBody>
      </p:sp>
      <p:sp>
        <p:nvSpPr>
          <p:cNvPr id="4" name="Text 2"/>
          <p:cNvSpPr txBox="1"/>
          <p:nvPr/>
        </p:nvSpPr>
        <p:spPr>
          <a:xfrm>
            <a:off x="411480" y="9710928"/>
            <a:ext cx="4572000" cy="146304"/>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Student project, not investment advice. See disclaimer on page 6.</a:t>
            </a:r>
            <a:endParaRPr lang="en-US" sz="650" dirty="0"/>
          </a:p>
        </p:txBody>
      </p:sp>
      <p:sp>
        <p:nvSpPr>
          <p:cNvPr id="5" name="Text 3"/>
          <p:cNvSpPr txBox="1"/>
          <p:nvPr/>
        </p:nvSpPr>
        <p:spPr>
          <a:xfrm>
            <a:off x="5989320" y="9710928"/>
            <a:ext cx="1371600" cy="146304"/>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Page 1 of 6</a:t>
            </a:r>
            <a:endParaRPr lang="en-US" sz="650" dirty="0"/>
          </a:p>
        </p:txBody>
      </p:sp>
      <p:sp>
        <p:nvSpPr>
          <p:cNvPr id="6" name="Text 4"/>
          <p:cNvSpPr txBox="1"/>
          <p:nvPr/>
        </p:nvSpPr>
        <p:spPr>
          <a:xfrm>
            <a:off x="411480" y="438912"/>
            <a:ext cx="4754880" cy="384048"/>
          </a:xfrm>
          <a:prstGeom prst="rect">
            <a:avLst/>
          </a:prstGeom>
          <a:noFill/>
          <a:ln/>
        </p:spPr>
        <p:txBody>
          <a:bodyPr wrap="square" lIns="0" tIns="0" rIns="0" bIns="0" rtlCol="0" anchor="t"/>
          <a:lstStyle/>
          <a:p>
            <a:pPr marL="0" indent="0">
              <a:buNone/>
            </a:pPr>
            <a:r>
              <a:rPr lang="en-US" sz="2200" b="1" dirty="0">
                <a:solidFill>
                  <a:srgbClr val="1F3864"/>
                </a:solidFill>
                <a:latin typeface="Arial" pitchFamily="34" charset="0"/>
                <a:ea typeface="Arial" pitchFamily="34" charset="-122"/>
                <a:cs typeface="Arial" pitchFamily="34" charset="-120"/>
              </a:rPr>
              <a:t>McDonald's Corporation</a:t>
            </a:r>
            <a:endParaRPr lang="en-US" sz="2200" dirty="0"/>
          </a:p>
        </p:txBody>
      </p:sp>
      <p:sp>
        <p:nvSpPr>
          <p:cNvPr id="7" name="Text 5"/>
          <p:cNvSpPr txBox="1"/>
          <p:nvPr/>
        </p:nvSpPr>
        <p:spPr>
          <a:xfrm>
            <a:off x="411480" y="841248"/>
            <a:ext cx="4754880" cy="201168"/>
          </a:xfrm>
          <a:prstGeom prst="rect">
            <a:avLst/>
          </a:prstGeom>
          <a:noFill/>
          <a:ln/>
        </p:spPr>
        <p:txBody>
          <a:bodyPr wrap="square" lIns="0" tIns="0" rIns="0" bIns="0" rtlCol="0" anchor="t"/>
          <a:lstStyle/>
          <a:p>
            <a:pPr marL="0" indent="0">
              <a:buNone/>
            </a:pPr>
            <a:r>
              <a:rPr lang="en-US" sz="1050" i="1" dirty="0">
                <a:solidFill>
                  <a:srgbClr val="1F3864"/>
                </a:solidFill>
                <a:latin typeface="Arial" pitchFamily="34" charset="0"/>
                <a:ea typeface="Arial" pitchFamily="34" charset="-122"/>
                <a:cs typeface="Arial" pitchFamily="34" charset="-120"/>
              </a:rPr>
              <a:t>Earnings can grow without more guests, for now. The price reflects most of it.</a:t>
            </a:r>
            <a:endParaRPr lang="en-US" sz="1050" dirty="0"/>
          </a:p>
        </p:txBody>
      </p:sp>
      <p:sp>
        <p:nvSpPr>
          <p:cNvPr id="8" name="Text 6"/>
          <p:cNvSpPr txBox="1"/>
          <p:nvPr/>
        </p:nvSpPr>
        <p:spPr>
          <a:xfrm>
            <a:off x="411480" y="1069848"/>
            <a:ext cx="4754880" cy="146304"/>
          </a:xfrm>
          <a:prstGeom prst="rect">
            <a:avLst/>
          </a:prstGeom>
          <a:noFill/>
          <a:ln/>
        </p:spPr>
        <p:txBody>
          <a:bodyPr wrap="square" lIns="0" tIns="0" rIns="0" bIns="0" rtlCol="0" anchor="t"/>
          <a:lstStyle/>
          <a:p>
            <a:pPr marL="0" indent="0">
              <a:buNone/>
            </a:pPr>
            <a:r>
              <a:rPr lang="en-US" sz="700" dirty="0">
                <a:solidFill>
                  <a:srgbClr val="595959"/>
                </a:solidFill>
                <a:latin typeface="Arial" pitchFamily="34" charset="0"/>
                <a:ea typeface="Arial" pitchFamily="34" charset="-122"/>
                <a:cs typeface="Arial" pitchFamily="34" charset="-120"/>
              </a:rPr>
              <a:t>Analyst: William Challma  |  Initiation of coverage  |  Prices as of the 24 September 2026 close</a:t>
            </a:r>
            <a:endParaRPr lang="en-US" sz="700" dirty="0"/>
          </a:p>
        </p:txBody>
      </p:sp>
      <p:sp>
        <p:nvSpPr>
          <p:cNvPr id="9" name="Text 7"/>
          <p:cNvSpPr txBox="1"/>
          <p:nvPr/>
        </p:nvSpPr>
        <p:spPr>
          <a:xfrm>
            <a:off x="411480" y="1325880"/>
            <a:ext cx="461772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Investment summary</a:t>
            </a:r>
            <a:endParaRPr lang="en-US" sz="950" dirty="0"/>
          </a:p>
        </p:txBody>
      </p:sp>
      <p:sp>
        <p:nvSpPr>
          <p:cNvPr id="10" name="Text 8"/>
          <p:cNvSpPr txBox="1"/>
          <p:nvPr/>
        </p:nvSpPr>
        <p:spPr>
          <a:xfrm>
            <a:off x="411480" y="1536192"/>
            <a:ext cx="4617720" cy="3611880"/>
          </a:xfrm>
          <a:prstGeom prst="rect">
            <a:avLst/>
          </a:prstGeom>
          <a:noFill/>
          <a:ln/>
        </p:spPr>
        <p:txBody>
          <a:bodyPr wrap="square" lIns="0" tIns="0" rIns="0" bIns="0" rtlCol="0" anchor="t"/>
          <a:lstStyle/>
          <a:p>
            <a:pPr marL="0" indent="0">
              <a:spcAft>
                <a:spcPts val="350"/>
              </a:spcAft>
              <a:buNone/>
            </a:pPr>
            <a:r>
              <a:rPr lang="en-US" sz="800" dirty="0">
                <a:solidFill>
                  <a:srgbClr val="262626"/>
                </a:solidFill>
                <a:latin typeface="Arial" pitchFamily="34" charset="0"/>
                <a:ea typeface="Arial" pitchFamily="34" charset="-122"/>
                <a:cs typeface="Arial" pitchFamily="34" charset="-120"/>
              </a:rPr>
              <a:t>We initiate at Hold with a $249 target price, 4.9% above the $237.02 close. Adding the 3.3% dividend yield gives an expected total return of 8.1%, inside our Hold band (Buy at +10% or more, Sell at -10% or worse). Our DCF ($249) and franchise-heavy peer multiples ($248) agree within 1%; we weight them 60/40.</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A rent-and-royalty machine. </a:t>
            </a:r>
            <a:r>
              <a:rPr lang="en-US" sz="800" dirty="0">
                <a:solidFill>
                  <a:srgbClr val="262626"/>
                </a:solidFill>
                <a:latin typeface="Arial" pitchFamily="34" charset="0"/>
                <a:ea typeface="Arial" pitchFamily="34" charset="-122"/>
                <a:cs typeface="Arial" pitchFamily="34" charset="-120"/>
              </a:rPr>
              <a:t>About 95% of McDonald's 45,356 restaurants are run by franchisees, so it earns rent and royalties on $139bn of systemwide sales, not on visits. That supports a 47% adjusted operating margin and $7.2bn of free cash flow in 2025.</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Why the shares are down 30% from February's $342 peak. </a:t>
            </a:r>
            <a:r>
              <a:rPr lang="en-US" sz="800" dirty="0">
                <a:solidFill>
                  <a:srgbClr val="262626"/>
                </a:solidFill>
                <a:latin typeface="Arial" pitchFamily="34" charset="0"/>
                <a:ea typeface="Arial" pitchFamily="34" charset="-122"/>
                <a:cs typeface="Arial" pitchFamily="34" charset="-120"/>
              </a:rPr>
              <a:t>U.S. comparable sales slowed to +0.8% in Q2 2026 with falling guest counts after a poorly executed under-$3 value menu, and management now expects slightly negative U.S. comps in Q3. The 10-year Treasury at ~5.2% raised the discount rate on a bond-like stock, and Investor Day added an $8.5bn franchisee support programme (the stock fell 4.8% that day).</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Our view: earnings can outgrow traffic until 2027, not forever. </a:t>
            </a:r>
            <a:r>
              <a:rPr lang="en-US" sz="800" dirty="0">
                <a:solidFill>
                  <a:srgbClr val="262626"/>
                </a:solidFill>
                <a:latin typeface="Arial" pitchFamily="34" charset="0"/>
                <a:ea typeface="Arial" pitchFamily="34" charset="-122"/>
                <a:cs typeface="Arial" pitchFamily="34" charset="-120"/>
              </a:rPr>
              <a:t>New restaurants, refranchising to ~98% by 2028, G&amp;A falling to ~1.9% of systemwide sales and buybacks lift adjusted EPS from $12.20 (FY25) to $16.21 (FY30E), 5.8% a year, with no traffic recovery needed. At $237 the market prices slightly less: comps ~0.7 points a year below our forecast, or 2.3% perpetual growth versus our 2.5%.</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What would change our rating. </a:t>
            </a:r>
            <a:r>
              <a:rPr lang="en-US" sz="800" dirty="0">
                <a:solidFill>
                  <a:srgbClr val="262626"/>
                </a:solidFill>
                <a:latin typeface="Arial" pitchFamily="34" charset="0"/>
                <a:ea typeface="Arial" pitchFamily="34" charset="-122"/>
                <a:cs typeface="Arial" pitchFamily="34" charset="-120"/>
              </a:rPr>
              <a:t>Stable U.S. guest counts in the Q3 results (expected 4 November) would likely move us to Buy; the total return is 1.9 points short. Negative U.S. comps into Q4, or a 10-year yield above 5.5%, would move us toward Sell. Bear and bull cases give $223 and $261.</a:t>
            </a:r>
            <a:endParaRPr lang="en-US" sz="800" dirty="0"/>
          </a:p>
        </p:txBody>
      </p:sp>
      <p:sp>
        <p:nvSpPr>
          <p:cNvPr id="11" name="Text 9"/>
          <p:cNvSpPr txBox="1"/>
          <p:nvPr/>
        </p:nvSpPr>
        <p:spPr>
          <a:xfrm>
            <a:off x="411480" y="4315968"/>
            <a:ext cx="461772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 MCD daily close, US$, 17 Jul to 24 Sep 2026, vs. our $249 target</a:t>
            </a:r>
            <a:endParaRPr lang="en-US" sz="750" dirty="0"/>
          </a:p>
        </p:txBody>
      </p:sp>
      <p:graphicFrame>
        <p:nvGraphicFramePr>
          <p:cNvPr id="12" name="Chart 0"/>
          <p:cNvGraphicFramePr/>
          <p:nvPr/>
        </p:nvGraphicFramePr>
        <p:xfrm>
          <a:off x="365760" y="4480560"/>
          <a:ext cx="470916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txBox="1"/>
          <p:nvPr/>
        </p:nvSpPr>
        <p:spPr>
          <a:xfrm>
            <a:off x="411480" y="6967728"/>
            <a:ext cx="4617720"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Source: Stock Analysis / S&amp;P Global Market Intelligence daily closes; last point is the 24-Sep-2026 close used in this report.</a:t>
            </a:r>
            <a:endParaRPr lang="en-US" sz="650" dirty="0"/>
          </a:p>
        </p:txBody>
      </p:sp>
      <p:sp>
        <p:nvSpPr>
          <p:cNvPr id="14" name="Shape 11"/>
          <p:cNvSpPr/>
          <p:nvPr/>
        </p:nvSpPr>
        <p:spPr>
          <a:xfrm>
            <a:off x="5212080" y="1325880"/>
            <a:ext cx="2148840" cy="914400"/>
          </a:xfrm>
          <a:prstGeom prst="rect">
            <a:avLst/>
          </a:prstGeom>
          <a:solidFill>
            <a:srgbClr val="1F3864"/>
          </a:solidFill>
          <a:ln w="12700">
            <a:solidFill>
              <a:srgbClr val="1F3864"/>
            </a:solidFill>
            <a:prstDash val="solid"/>
          </a:ln>
        </p:spPr>
        <p:txBody>
          <a:bodyPr/>
          <a:lstStyle/>
          <a:p>
            <a:endParaRPr lang="LID4096"/>
          </a:p>
        </p:txBody>
      </p:sp>
      <p:sp>
        <p:nvSpPr>
          <p:cNvPr id="15" name="Text 12"/>
          <p:cNvSpPr txBox="1"/>
          <p:nvPr/>
        </p:nvSpPr>
        <p:spPr>
          <a:xfrm>
            <a:off x="5303520" y="1389888"/>
            <a:ext cx="960120" cy="137160"/>
          </a:xfrm>
          <a:prstGeom prst="rect">
            <a:avLst/>
          </a:prstGeom>
          <a:noFill/>
          <a:ln/>
        </p:spPr>
        <p:txBody>
          <a:bodyPr wrap="square" lIns="0" tIns="0" rIns="0" bIns="0" rtlCol="0" anchor="t"/>
          <a:lstStyle/>
          <a:p>
            <a:pPr marL="0" indent="0">
              <a:buNone/>
            </a:pPr>
            <a:r>
              <a:rPr lang="en-US" sz="700" b="1" dirty="0">
                <a:solidFill>
                  <a:srgbClr val="D9E1F2"/>
                </a:solidFill>
                <a:latin typeface="Arial" pitchFamily="34" charset="0"/>
                <a:ea typeface="Arial" pitchFamily="34" charset="-122"/>
                <a:cs typeface="Arial" pitchFamily="34" charset="-120"/>
              </a:rPr>
              <a:t>RATING</a:t>
            </a:r>
            <a:endParaRPr lang="en-US" sz="700" dirty="0"/>
          </a:p>
        </p:txBody>
      </p:sp>
      <p:sp>
        <p:nvSpPr>
          <p:cNvPr id="16" name="Text 13"/>
          <p:cNvSpPr txBox="1"/>
          <p:nvPr/>
        </p:nvSpPr>
        <p:spPr>
          <a:xfrm>
            <a:off x="5303520" y="1536192"/>
            <a:ext cx="960120" cy="36576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HOLD</a:t>
            </a:r>
            <a:endParaRPr lang="en-US" sz="2200" dirty="0"/>
          </a:p>
        </p:txBody>
      </p:sp>
      <p:sp>
        <p:nvSpPr>
          <p:cNvPr id="17" name="Text 14"/>
          <p:cNvSpPr txBox="1"/>
          <p:nvPr/>
        </p:nvSpPr>
        <p:spPr>
          <a:xfrm>
            <a:off x="6309360" y="1389888"/>
            <a:ext cx="1005840" cy="137160"/>
          </a:xfrm>
          <a:prstGeom prst="rect">
            <a:avLst/>
          </a:prstGeom>
          <a:noFill/>
          <a:ln/>
        </p:spPr>
        <p:txBody>
          <a:bodyPr wrap="square" lIns="0" tIns="0" rIns="0" bIns="0" rtlCol="0" anchor="t"/>
          <a:lstStyle/>
          <a:p>
            <a:pPr marL="0" indent="0">
              <a:buNone/>
            </a:pPr>
            <a:r>
              <a:rPr lang="en-US" sz="700" b="1" dirty="0">
                <a:solidFill>
                  <a:srgbClr val="D9E1F2"/>
                </a:solidFill>
                <a:latin typeface="Arial" pitchFamily="34" charset="0"/>
                <a:ea typeface="Arial" pitchFamily="34" charset="-122"/>
                <a:cs typeface="Arial" pitchFamily="34" charset="-120"/>
              </a:rPr>
              <a:t>TARGET PRICE</a:t>
            </a:r>
            <a:endParaRPr lang="en-US" sz="700" dirty="0"/>
          </a:p>
        </p:txBody>
      </p:sp>
      <p:sp>
        <p:nvSpPr>
          <p:cNvPr id="18" name="Text 15"/>
          <p:cNvSpPr txBox="1"/>
          <p:nvPr/>
        </p:nvSpPr>
        <p:spPr>
          <a:xfrm>
            <a:off x="6309360" y="1536192"/>
            <a:ext cx="1005840" cy="36576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$249</a:t>
            </a:r>
            <a:endParaRPr lang="en-US" sz="2200" dirty="0"/>
          </a:p>
        </p:txBody>
      </p:sp>
      <p:sp>
        <p:nvSpPr>
          <p:cNvPr id="19" name="Text 16"/>
          <p:cNvSpPr txBox="1"/>
          <p:nvPr/>
        </p:nvSpPr>
        <p:spPr>
          <a:xfrm>
            <a:off x="5303520" y="1965960"/>
            <a:ext cx="2011680" cy="137160"/>
          </a:xfrm>
          <a:prstGeom prst="rect">
            <a:avLst/>
          </a:prstGeom>
          <a:noFill/>
          <a:ln/>
        </p:spPr>
        <p:txBody>
          <a:bodyPr wrap="square" lIns="0" tIns="0" rIns="0" bIns="0" rtlCol="0" anchor="t"/>
          <a:lstStyle/>
          <a:p>
            <a:pPr marL="0" indent="0">
              <a:buNone/>
            </a:pPr>
            <a:r>
              <a:rPr lang="en-US" sz="650" dirty="0">
                <a:solidFill>
                  <a:srgbClr val="D9E1F2"/>
                </a:solidFill>
                <a:latin typeface="Arial" pitchFamily="34" charset="0"/>
                <a:ea typeface="Arial" pitchFamily="34" charset="-122"/>
                <a:cs typeface="Arial" pitchFamily="34" charset="-120"/>
              </a:rPr>
              <a:t>12-month, blended DCF / multiples</a:t>
            </a:r>
            <a:endParaRPr lang="en-US" sz="6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212080" y="2304288"/>
          <a:ext cx="2148840" cy="438912"/>
        </p:xfrm>
        <a:graphic>
          <a:graphicData uri="http://schemas.openxmlformats.org/drawingml/2006/table">
            <a:tbl>
              <a:tblPr/>
              <a:tblGrid>
                <a:gridCol w="13258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146304">
                <a:tc>
                  <a:txBody>
                    <a:bodyPr/>
                    <a:lstStyle/>
                    <a:p>
                      <a:pPr marL="0" indent="0" algn="l">
                        <a:buNone/>
                      </a:pPr>
                      <a:r>
                        <a:rPr lang="en-US" sz="750" dirty="0">
                          <a:solidFill>
                            <a:srgbClr val="262626"/>
                          </a:solidFill>
                          <a:latin typeface="Arial" pitchFamily="34" charset="0"/>
                          <a:ea typeface="Arial" pitchFamily="34" charset="-122"/>
                          <a:cs typeface="Arial" pitchFamily="34" charset="-120"/>
                        </a:rPr>
                        <a:t>Price (24-Sep close)</a:t>
                      </a:r>
                      <a:endParaRPr lang="en-US" sz="75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50" dirty="0">
                          <a:solidFill>
                            <a:srgbClr val="262626"/>
                          </a:solidFill>
                          <a:latin typeface="Arial" pitchFamily="34" charset="0"/>
                          <a:ea typeface="Arial" pitchFamily="34" charset="-122"/>
                          <a:cs typeface="Arial" pitchFamily="34" charset="-120"/>
                        </a:rPr>
                        <a:t>$237.02</a:t>
                      </a:r>
                      <a:endParaRPr lang="en-US" sz="75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0"/>
                  </a:ext>
                </a:extLst>
              </a:tr>
              <a:tr h="146304">
                <a:tc>
                  <a:txBody>
                    <a:bodyPr/>
                    <a:lstStyle/>
                    <a:p>
                      <a:pPr marL="0" indent="0" algn="l">
                        <a:buNone/>
                      </a:pPr>
                      <a:r>
                        <a:rPr lang="en-US" sz="750" dirty="0">
                          <a:solidFill>
                            <a:srgbClr val="262626"/>
                          </a:solidFill>
                          <a:latin typeface="Arial" pitchFamily="34" charset="0"/>
                          <a:ea typeface="Arial" pitchFamily="34" charset="-122"/>
                          <a:cs typeface="Arial" pitchFamily="34" charset="-120"/>
                        </a:rPr>
                        <a:t>Upside</a:t>
                      </a:r>
                      <a:endParaRPr lang="en-US" sz="75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50" dirty="0">
                          <a:solidFill>
                            <a:srgbClr val="262626"/>
                          </a:solidFill>
                          <a:latin typeface="Arial" pitchFamily="34" charset="0"/>
                          <a:ea typeface="Arial" pitchFamily="34" charset="-122"/>
                          <a:cs typeface="Arial" pitchFamily="34" charset="-120"/>
                        </a:rPr>
                        <a:t>+4.9%</a:t>
                      </a:r>
                      <a:endParaRPr lang="en-US" sz="75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6304">
                <a:tc>
                  <a:txBody>
                    <a:bodyPr/>
                    <a:lstStyle/>
                    <a:p>
                      <a:pPr marL="0" indent="0" algn="l">
                        <a:buNone/>
                      </a:pPr>
                      <a:r>
                        <a:rPr lang="en-US" sz="750" b="1" dirty="0">
                          <a:solidFill>
                            <a:srgbClr val="262626"/>
                          </a:solidFill>
                          <a:latin typeface="Arial" pitchFamily="34" charset="0"/>
                          <a:ea typeface="Arial" pitchFamily="34" charset="-122"/>
                          <a:cs typeface="Arial" pitchFamily="34" charset="-120"/>
                        </a:rPr>
                        <a:t>Total return</a:t>
                      </a:r>
                      <a:endParaRPr lang="en-US" sz="75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50" b="1" dirty="0">
                          <a:solidFill>
                            <a:srgbClr val="262626"/>
                          </a:solidFill>
                          <a:latin typeface="Arial" pitchFamily="34" charset="0"/>
                          <a:ea typeface="Arial" pitchFamily="34" charset="-122"/>
                          <a:cs typeface="Arial" pitchFamily="34" charset="-120"/>
                        </a:rPr>
                        <a:t>+8.1%</a:t>
                      </a:r>
                      <a:endParaRPr lang="en-US" sz="75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1" name="Text 17"/>
          <p:cNvSpPr txBox="1"/>
          <p:nvPr/>
        </p:nvSpPr>
        <p:spPr>
          <a:xfrm>
            <a:off x="5212080" y="2816352"/>
            <a:ext cx="21488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Key data</a:t>
            </a:r>
            <a:endParaRPr lang="en-US" sz="950" dirty="0"/>
          </a:p>
        </p:txBody>
      </p:sp>
      <p:graphicFrame>
        <p:nvGraphicFramePr>
          <p:cNvPr id="22" name="Table 1"/>
          <p:cNvGraphicFramePr>
            <a:graphicFrameLocks noGrp="1"/>
          </p:cNvGraphicFramePr>
          <p:nvPr>
            <p:extLst>
              <p:ext uri="{D42A27DB-BD31-4B8C-83A1-F6EECF244321}">
                <p14:modId xmlns:p14="http://schemas.microsoft.com/office/powerpoint/2010/main" val="1579011935"/>
              </p:ext>
            </p:extLst>
          </p:nvPr>
        </p:nvGraphicFramePr>
        <p:xfrm>
          <a:off x="5212080" y="3017520"/>
          <a:ext cx="2148840" cy="1842516"/>
        </p:xfrm>
        <a:graphic>
          <a:graphicData uri="http://schemas.openxmlformats.org/drawingml/2006/table">
            <a:tbl>
              <a:tblPr/>
              <a:tblGrid>
                <a:gridCol w="11887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Ticker / exchange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MCD / NYSE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Sector</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Restaurants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Market cap (diluted)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$168.2bn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Enterprise value*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$205.7bn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Diluted shares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709.6m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Free float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706.6m (99.9%)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Avg daily vol. (20d)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5.4m (~$1.3bn)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52-week range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$234 to $342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Beta: raw 5Y / WACC**</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0.41 / 0.60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Dividend (forward)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$7.72 (3.3%)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Net debt / EBITDA*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Credit rating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BBB+ / Baa1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Street target (n=35)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$312 avg.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23" name="Text 18"/>
          <p:cNvSpPr txBox="1"/>
          <p:nvPr/>
        </p:nvSpPr>
        <p:spPr>
          <a:xfrm>
            <a:off x="5212080" y="4937760"/>
            <a:ext cx="21488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Major shareholders</a:t>
            </a:r>
            <a:endParaRPr lang="en-US" sz="950" dirty="0"/>
          </a:p>
        </p:txBody>
      </p:sp>
      <p:graphicFrame>
        <p:nvGraphicFramePr>
          <p:cNvPr id="24" name="Table 2"/>
          <p:cNvGraphicFramePr>
            <a:graphicFrameLocks noGrp="1"/>
          </p:cNvGraphicFramePr>
          <p:nvPr>
            <p:extLst>
              <p:ext uri="{D42A27DB-BD31-4B8C-83A1-F6EECF244321}">
                <p14:modId xmlns:p14="http://schemas.microsoft.com/office/powerpoint/2010/main" val="1579011935"/>
              </p:ext>
            </p:extLst>
          </p:nvPr>
        </p:nvGraphicFramePr>
        <p:xfrm>
          <a:off x="5212080" y="5138928"/>
          <a:ext cx="2148840" cy="708660"/>
        </p:xfrm>
        <a:graphic>
          <a:graphicData uri="http://schemas.openxmlformats.org/drawingml/2006/table">
            <a:tbl>
              <a:tblPr/>
              <a:tblGrid>
                <a:gridCol w="1371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Vanguard Group</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BlackRock</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State Street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All institutions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75.8%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Insiders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&lt;0.1%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Text 19"/>
          <p:cNvSpPr txBox="1"/>
          <p:nvPr/>
        </p:nvSpPr>
        <p:spPr>
          <a:xfrm>
            <a:off x="5212080" y="5943600"/>
            <a:ext cx="21488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Valuation summary</a:t>
            </a:r>
            <a:endParaRPr lang="en-US" sz="950" dirty="0"/>
          </a:p>
        </p:txBody>
      </p:sp>
      <p:graphicFrame>
        <p:nvGraphicFramePr>
          <p:cNvPr id="26" name="Table 3"/>
          <p:cNvGraphicFramePr>
            <a:graphicFrameLocks noGrp="1"/>
          </p:cNvGraphicFramePr>
          <p:nvPr>
            <p:extLst>
              <p:ext uri="{D42A27DB-BD31-4B8C-83A1-F6EECF244321}">
                <p14:modId xmlns:p14="http://schemas.microsoft.com/office/powerpoint/2010/main" val="1579011935"/>
              </p:ext>
            </p:extLst>
          </p:nvPr>
        </p:nvGraphicFramePr>
        <p:xfrm>
          <a:off x="5212080" y="6144768"/>
          <a:ext cx="2148840" cy="708660"/>
        </p:xfrm>
        <a:graphic>
          <a:graphicData uri="http://schemas.openxmlformats.org/drawingml/2006/table">
            <a:tbl>
              <a:tblPr/>
              <a:tblGrid>
                <a:gridCol w="1371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DCF (60%)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Franchise-heavy multiples (40%)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Blended target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Bear / bull case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$223 / $261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Price-implied growth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 (vs 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7" name="Text 20"/>
          <p:cNvSpPr txBox="1"/>
          <p:nvPr/>
        </p:nvSpPr>
        <p:spPr>
          <a:xfrm>
            <a:off x="411480" y="7223760"/>
            <a:ext cx="6949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Financial summary and valuation (fiscal year to December)</a:t>
            </a:r>
            <a:endParaRPr lang="en-US" sz="950" dirty="0"/>
          </a:p>
        </p:txBody>
      </p:sp>
      <p:graphicFrame>
        <p:nvGraphicFramePr>
          <p:cNvPr id="28" name="Table 4"/>
          <p:cNvGraphicFramePr>
            <a:graphicFrameLocks noGrp="1"/>
          </p:cNvGraphicFramePr>
          <p:nvPr>
            <p:extLst>
              <p:ext uri="{D42A27DB-BD31-4B8C-83A1-F6EECF244321}">
                <p14:modId xmlns:p14="http://schemas.microsoft.com/office/powerpoint/2010/main" val="1579011935"/>
              </p:ext>
            </p:extLst>
          </p:nvPr>
        </p:nvGraphicFramePr>
        <p:xfrm>
          <a:off x="411480" y="7424928"/>
          <a:ext cx="6949440" cy="1559052"/>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141732">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US$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FY24A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FY25A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FY26E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FY27E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FY28E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Revenue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26.9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Revenue growth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Adjusted operating margin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46.3%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46.9%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47.0%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49.5%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Adjusted EBITDA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15.7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Adjusted diluted EPS ($)</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11.72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12.20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12.81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13.54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14.17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EPS growth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Dividend per share ($)</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6.78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7.17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7.51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7.80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8.12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Free cash flow, company definition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6.7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P/E (x)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19.4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EV / EBITDA (x)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13.9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13.1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12.6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12.2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29" name="Text 21"/>
          <p:cNvSpPr txBox="1"/>
          <p:nvPr/>
        </p:nvSpPr>
        <p:spPr>
          <a:xfrm>
            <a:off x="411480" y="9025128"/>
            <a:ext cx="6949440" cy="54864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Adjusted = excluding restructuring and other special charges. FY27-28 revenue dips because refranchising swaps company-operated sales for rent and royalties. Multiples at the $237.02 close. Free cash flow = cash from operations less capex. *EV = diluted market cap + fair-value net debt at 30-Jun-26, excluding leases; EBITDA = LTM to Jun-26 (GAAP). **0.41 is MCD's raw 5-year monthly beta, a cross-check; the WACC uses a 0.60 bottom-up beta from franchise-heavy peers (page 4). Market data: Stock Analysis / S&amp;P Global MI, 24-25 Sep 2026. Holders: 2026 proxy and 13F data. Source: company filings, our estimates.</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28600"/>
            <a:ext cx="4937760" cy="164592"/>
          </a:xfrm>
          <a:prstGeom prst="rect">
            <a:avLst/>
          </a:prstGeom>
          <a:noFill/>
          <a:ln/>
        </p:spPr>
        <p:txBody>
          <a:bodyPr wrap="square" lIns="0" tIns="0" rIns="0" bIns="0" rtlCol="0" anchor="t"/>
          <a:lstStyle/>
          <a:p>
            <a:pPr marL="0" indent="0">
              <a:buNone/>
            </a:pPr>
            <a:r>
              <a:rPr lang="en-US" sz="700" b="1" dirty="0">
                <a:solidFill>
                  <a:srgbClr val="595959"/>
                </a:solidFill>
                <a:latin typeface="Arial" pitchFamily="34" charset="0"/>
                <a:ea typeface="Arial" pitchFamily="34" charset="-122"/>
                <a:cs typeface="Arial" pitchFamily="34" charset="-120"/>
              </a:rPr>
              <a:t>McDONALD'S CORPORATION (NYSE: MCD)  |  EQUITY RESEARCH  |  US RESTAURANTS</a:t>
            </a:r>
            <a:endParaRPr lang="en-US" sz="700" dirty="0"/>
          </a:p>
        </p:txBody>
      </p:sp>
      <p:sp>
        <p:nvSpPr>
          <p:cNvPr id="3" name="Text 1"/>
          <p:cNvSpPr txBox="1"/>
          <p:nvPr/>
        </p:nvSpPr>
        <p:spPr>
          <a:xfrm>
            <a:off x="5074920" y="228600"/>
            <a:ext cx="2286000" cy="164592"/>
          </a:xfrm>
          <a:prstGeom prst="rect">
            <a:avLst/>
          </a:prstGeom>
          <a:noFill/>
          <a:ln/>
        </p:spPr>
        <p:txBody>
          <a:bodyPr wrap="square" lIns="0" tIns="0" rIns="0" bIns="0" rtlCol="0" anchor="t"/>
          <a:lstStyle/>
          <a:p>
            <a:pPr marL="0" indent="0" algn="r">
              <a:buNone/>
            </a:pPr>
            <a:r>
              <a:rPr lang="en-US" sz="700" dirty="0">
                <a:solidFill>
                  <a:srgbClr val="595959"/>
                </a:solidFill>
                <a:latin typeface="Arial" pitchFamily="34" charset="0"/>
                <a:ea typeface="Arial" pitchFamily="34" charset="-122"/>
                <a:cs typeface="Arial" pitchFamily="34" charset="-120"/>
              </a:rPr>
              <a:t>25 September 2026 (revised 26 September)</a:t>
            </a:r>
            <a:endParaRPr lang="en-US" sz="700" dirty="0"/>
          </a:p>
        </p:txBody>
      </p:sp>
      <p:sp>
        <p:nvSpPr>
          <p:cNvPr id="4" name="Text 2"/>
          <p:cNvSpPr txBox="1"/>
          <p:nvPr/>
        </p:nvSpPr>
        <p:spPr>
          <a:xfrm>
            <a:off x="411480" y="9710928"/>
            <a:ext cx="4572000" cy="146304"/>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Student project, not investment advice. See disclaimer on page 6.</a:t>
            </a:r>
            <a:endParaRPr lang="en-US" sz="650" dirty="0"/>
          </a:p>
        </p:txBody>
      </p:sp>
      <p:sp>
        <p:nvSpPr>
          <p:cNvPr id="5" name="Text 3"/>
          <p:cNvSpPr txBox="1"/>
          <p:nvPr/>
        </p:nvSpPr>
        <p:spPr>
          <a:xfrm>
            <a:off x="5989320" y="9710928"/>
            <a:ext cx="1371600" cy="146304"/>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Page 2 of 6</a:t>
            </a:r>
            <a:endParaRPr lang="en-US" sz="650" dirty="0"/>
          </a:p>
        </p:txBody>
      </p:sp>
      <p:sp>
        <p:nvSpPr>
          <p:cNvPr id="6" name="Text 4"/>
          <p:cNvSpPr txBox="1"/>
          <p:nvPr/>
        </p:nvSpPr>
        <p:spPr>
          <a:xfrm>
            <a:off x="411480" y="457200"/>
            <a:ext cx="6949440" cy="292608"/>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A landlord and brand licensor that happens to sell burgers</a:t>
            </a:r>
            <a:endParaRPr lang="en-US" sz="1500" dirty="0"/>
          </a:p>
        </p:txBody>
      </p:sp>
      <p:sp>
        <p:nvSpPr>
          <p:cNvPr id="7" name="Text 5"/>
          <p:cNvSpPr txBox="1"/>
          <p:nvPr/>
        </p:nvSpPr>
        <p:spPr>
          <a:xfrm>
            <a:off x="411480" y="758952"/>
            <a:ext cx="6949440" cy="182880"/>
          </a:xfrm>
          <a:prstGeom prst="rect">
            <a:avLst/>
          </a:prstGeom>
          <a:noFill/>
          <a:ln/>
        </p:spPr>
        <p:txBody>
          <a:bodyPr wrap="square" lIns="0" tIns="0" rIns="0" bIns="0" rtlCol="0" anchor="t"/>
          <a:lstStyle/>
          <a:p>
            <a:pPr marL="0" indent="0">
              <a:buNone/>
            </a:pPr>
            <a:r>
              <a:rPr lang="en-US" sz="900" i="1" dirty="0">
                <a:solidFill>
                  <a:srgbClr val="595959"/>
                </a:solidFill>
                <a:latin typeface="Arial" pitchFamily="34" charset="0"/>
                <a:ea typeface="Arial" pitchFamily="34" charset="-122"/>
                <a:cs typeface="Arial" pitchFamily="34" charset="-120"/>
              </a:rPr>
              <a:t>Business model and competitive position</a:t>
            </a:r>
            <a:endParaRPr lang="en-US" sz="900" dirty="0"/>
          </a:p>
        </p:txBody>
      </p:sp>
      <p:sp>
        <p:nvSpPr>
          <p:cNvPr id="8" name="Text 6"/>
          <p:cNvSpPr txBox="1"/>
          <p:nvPr/>
        </p:nvSpPr>
        <p:spPr>
          <a:xfrm>
            <a:off x="411480" y="1051560"/>
            <a:ext cx="434340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How McDonald's makes money</a:t>
            </a:r>
            <a:endParaRPr lang="en-US" sz="950" dirty="0"/>
          </a:p>
        </p:txBody>
      </p:sp>
      <p:sp>
        <p:nvSpPr>
          <p:cNvPr id="9" name="Text 7"/>
          <p:cNvSpPr txBox="1"/>
          <p:nvPr/>
        </p:nvSpPr>
        <p:spPr>
          <a:xfrm>
            <a:off x="411480" y="1252728"/>
            <a:ext cx="4343400" cy="1874520"/>
          </a:xfrm>
          <a:prstGeom prst="rect">
            <a:avLst/>
          </a:prstGeom>
          <a:noFill/>
          <a:ln/>
        </p:spPr>
        <p:txBody>
          <a:bodyPr wrap="square" lIns="0" tIns="0" rIns="0" bIns="0" rtlCol="0" anchor="t"/>
          <a:lstStyle/>
          <a:p>
            <a:pPr marL="0" indent="0">
              <a:spcAft>
                <a:spcPts val="350"/>
              </a:spcAft>
              <a:buNone/>
            </a:pPr>
            <a:r>
              <a:rPr lang="en-US" sz="800" dirty="0">
                <a:solidFill>
                  <a:srgbClr val="262626"/>
                </a:solidFill>
                <a:latin typeface="Arial" pitchFamily="34" charset="0"/>
                <a:ea typeface="Arial" pitchFamily="34" charset="-122"/>
                <a:cs typeface="Arial" pitchFamily="34" charset="-120"/>
              </a:rPr>
              <a:t>McDonald's owns the brand, the operating system and, in its main markets, the real estate; independent operators run 95% of restaurants under two formats.</a:t>
            </a:r>
            <a:endParaRPr lang="en-US" sz="800" dirty="0"/>
          </a:p>
          <a:p>
            <a:pPr marL="127000" indent="-127000">
              <a:spcAft>
                <a:spcPts val="350"/>
              </a:spcAft>
              <a:buSzPct val="100000"/>
              <a:buChar char="•"/>
            </a:pPr>
            <a:r>
              <a:rPr lang="en-US" sz="800" b="1" dirty="0">
                <a:solidFill>
                  <a:srgbClr val="1F3864"/>
                </a:solidFill>
                <a:latin typeface="Arial" pitchFamily="34" charset="0"/>
                <a:ea typeface="Arial" pitchFamily="34" charset="-122"/>
                <a:cs typeface="Arial" pitchFamily="34" charset="-120"/>
              </a:rPr>
              <a:t>Conventional franchise (U.S. and International Operated Markets, IOM). </a:t>
            </a:r>
            <a:r>
              <a:rPr lang="en-US" sz="800" dirty="0">
                <a:solidFill>
                  <a:srgbClr val="262626"/>
                </a:solidFill>
                <a:latin typeface="Arial" pitchFamily="34" charset="0"/>
                <a:ea typeface="Arial" pitchFamily="34" charset="-122"/>
                <a:cs typeface="Arial" pitchFamily="34" charset="-120"/>
              </a:rPr>
              <a:t>McDonald's owns or leases the land and building; the franchisee pays for equipment and decor, then rent plus a royalty, both a share of sales, under 20-year agreements. McDonald's keeps about 14 cents of each U.S. franchised sales dollar and 17 cents in IOM.</a:t>
            </a:r>
            <a:endParaRPr lang="en-US" sz="800" dirty="0"/>
          </a:p>
          <a:p>
            <a:pPr marL="127000" indent="-127000">
              <a:spcAft>
                <a:spcPts val="350"/>
              </a:spcAft>
              <a:buSzPct val="100000"/>
              <a:buChar char="•"/>
            </a:pPr>
            <a:r>
              <a:rPr lang="en-US" sz="800" b="1" dirty="0">
                <a:solidFill>
                  <a:srgbClr val="1F3864"/>
                </a:solidFill>
                <a:latin typeface="Arial" pitchFamily="34" charset="0"/>
                <a:ea typeface="Arial" pitchFamily="34" charset="-122"/>
                <a:cs typeface="Arial" pitchFamily="34" charset="-120"/>
              </a:rPr>
              <a:t>Developmental licence (IDL, e.g. China, Japan). </a:t>
            </a:r>
            <a:r>
              <a:rPr lang="en-US" sz="800" dirty="0">
                <a:solidFill>
                  <a:srgbClr val="262626"/>
                </a:solidFill>
                <a:latin typeface="Arial" pitchFamily="34" charset="0"/>
                <a:ea typeface="Arial" pitchFamily="34" charset="-122"/>
                <a:cs typeface="Arial" pitchFamily="34" charset="-120"/>
              </a:rPr>
              <a:t>The licensee funds everything, including the real estate, and pays a royalty of about 5% of sales.</a:t>
            </a:r>
            <a:endParaRPr lang="en-US" sz="800" dirty="0"/>
          </a:p>
          <a:p>
            <a:pPr marL="0" indent="0">
              <a:spcAft>
                <a:spcPts val="350"/>
              </a:spcAft>
              <a:buNone/>
            </a:pPr>
            <a:r>
              <a:rPr lang="en-US" sz="800" dirty="0">
                <a:solidFill>
                  <a:srgbClr val="262626"/>
                </a:solidFill>
                <a:latin typeface="Arial" pitchFamily="34" charset="0"/>
                <a:ea typeface="Arial" pitchFamily="34" charset="-122"/>
                <a:cs typeface="Arial" pitchFamily="34" charset="-120"/>
              </a:rPr>
              <a:t>In FY2025 franchised revenue was $16.5bn (rent 63%, royalties 36%, fees 1%). After $2.6bn of occupancy costs the franchised margin was $13.9bn (84%), about 90% of all restaurant margin dollars. The ~2,000 company-operated restaurants bring in $9.7bn of sales (36% of revenue) at a 15% margin (U.S. 12% and falling).</a:t>
            </a:r>
            <a:endParaRPr lang="en-US" sz="800" dirty="0"/>
          </a:p>
        </p:txBody>
      </p:sp>
      <p:sp>
        <p:nvSpPr>
          <p:cNvPr id="10" name="Text 8"/>
          <p:cNvSpPr txBox="1"/>
          <p:nvPr/>
        </p:nvSpPr>
        <p:spPr>
          <a:xfrm>
            <a:off x="411480" y="3154680"/>
            <a:ext cx="434340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Revenue and cost drivers</a:t>
            </a:r>
            <a:endParaRPr lang="en-US" sz="950" dirty="0"/>
          </a:p>
        </p:txBody>
      </p:sp>
      <p:sp>
        <p:nvSpPr>
          <p:cNvPr id="11" name="Text 9"/>
          <p:cNvSpPr txBox="1"/>
          <p:nvPr/>
        </p:nvSpPr>
        <p:spPr>
          <a:xfrm>
            <a:off x="411480" y="3355848"/>
            <a:ext cx="4343400" cy="777240"/>
          </a:xfrm>
          <a:prstGeom prst="rect">
            <a:avLst/>
          </a:prstGeom>
          <a:noFill/>
          <a:ln/>
        </p:spPr>
        <p:txBody>
          <a:bodyPr wrap="square" lIns="0" tIns="0" rIns="0" bIns="0" rtlCol="0" anchor="t"/>
          <a:lstStyle/>
          <a:p>
            <a:pPr marL="0" indent="0">
              <a:spcAft>
                <a:spcPts val="350"/>
              </a:spcAft>
              <a:buNone/>
            </a:pPr>
            <a:r>
              <a:rPr lang="en-US" sz="800" dirty="0">
                <a:solidFill>
                  <a:srgbClr val="262626"/>
                </a:solidFill>
                <a:latin typeface="Arial" pitchFamily="34" charset="0"/>
                <a:ea typeface="Arial" pitchFamily="34" charset="-122"/>
                <a:cs typeface="Arial" pitchFamily="34" charset="-120"/>
              </a:rPr>
              <a:t>Revenue follows systemwide sales, which grow through comparable sales (guest counts x average check), net new restaurants (~2,100 net openings planned for 2026) and currency. McDonald's captures menu price increases while franchisees absorb food, paper and labour inflation. Its own costs are occupancy, company-operated restaurants and G&amp;A (~2.2% of systemwide sales). Capex ($3.4bn in 2025, $3.7-3.9bn guided for 2026) goes mostly into new restaurants.</a:t>
            </a:r>
            <a:endParaRPr lang="en-US" sz="800" dirty="0"/>
          </a:p>
        </p:txBody>
      </p:sp>
      <p:sp>
        <p:nvSpPr>
          <p:cNvPr id="12" name="Text 10"/>
          <p:cNvSpPr txBox="1"/>
          <p:nvPr/>
        </p:nvSpPr>
        <p:spPr>
          <a:xfrm>
            <a:off x="4937760" y="1051560"/>
            <a:ext cx="242316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FY2025 at a glance</a:t>
            </a:r>
            <a:endParaRPr lang="en-US" sz="950" dirty="0"/>
          </a:p>
        </p:txBody>
      </p:sp>
      <p:sp>
        <p:nvSpPr>
          <p:cNvPr id="13" name="Shape 11"/>
          <p:cNvSpPr/>
          <p:nvPr/>
        </p:nvSpPr>
        <p:spPr>
          <a:xfrm>
            <a:off x="4937760" y="1280160"/>
            <a:ext cx="1170432" cy="868680"/>
          </a:xfrm>
          <a:prstGeom prst="rect">
            <a:avLst/>
          </a:prstGeom>
          <a:solidFill>
            <a:srgbClr val="F2F5FA"/>
          </a:solidFill>
          <a:ln w="12700">
            <a:solidFill>
              <a:srgbClr val="F2F5FA"/>
            </a:solidFill>
            <a:prstDash val="solid"/>
          </a:ln>
        </p:spPr>
        <p:txBody>
          <a:bodyPr/>
          <a:lstStyle/>
          <a:p>
            <a:endParaRPr lang="LID4096"/>
          </a:p>
        </p:txBody>
      </p:sp>
      <p:sp>
        <p:nvSpPr>
          <p:cNvPr id="14" name="Text 12"/>
          <p:cNvSpPr txBox="1"/>
          <p:nvPr/>
        </p:nvSpPr>
        <p:spPr>
          <a:xfrm>
            <a:off x="5010912" y="1344168"/>
            <a:ext cx="1051560" cy="274320"/>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45,356</a:t>
            </a:r>
            <a:endParaRPr lang="en-US" sz="1500" dirty="0"/>
          </a:p>
        </p:txBody>
      </p:sp>
      <p:sp>
        <p:nvSpPr>
          <p:cNvPr id="15" name="Text 13"/>
          <p:cNvSpPr txBox="1"/>
          <p:nvPr/>
        </p:nvSpPr>
        <p:spPr>
          <a:xfrm>
            <a:off x="5010912" y="1645920"/>
            <a:ext cx="1051560" cy="475488"/>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restaurants in 100+ countries</a:t>
            </a:r>
            <a:endParaRPr lang="en-US" sz="680" dirty="0"/>
          </a:p>
        </p:txBody>
      </p:sp>
      <p:sp>
        <p:nvSpPr>
          <p:cNvPr id="16" name="Shape 14"/>
          <p:cNvSpPr/>
          <p:nvPr/>
        </p:nvSpPr>
        <p:spPr>
          <a:xfrm>
            <a:off x="6172200" y="1280160"/>
            <a:ext cx="1170432" cy="868680"/>
          </a:xfrm>
          <a:prstGeom prst="rect">
            <a:avLst/>
          </a:prstGeom>
          <a:solidFill>
            <a:srgbClr val="F2F5FA"/>
          </a:solidFill>
          <a:ln w="12700">
            <a:solidFill>
              <a:srgbClr val="F2F5FA"/>
            </a:solidFill>
            <a:prstDash val="solid"/>
          </a:ln>
        </p:spPr>
        <p:txBody>
          <a:bodyPr/>
          <a:lstStyle/>
          <a:p>
            <a:endParaRPr lang="LID4096"/>
          </a:p>
        </p:txBody>
      </p:sp>
      <p:sp>
        <p:nvSpPr>
          <p:cNvPr id="17" name="Text 15"/>
          <p:cNvSpPr txBox="1"/>
          <p:nvPr/>
        </p:nvSpPr>
        <p:spPr>
          <a:xfrm>
            <a:off x="6245352" y="1344168"/>
            <a:ext cx="1051560" cy="274320"/>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95%</a:t>
            </a:r>
            <a:endParaRPr lang="en-US" sz="1500" dirty="0"/>
          </a:p>
        </p:txBody>
      </p:sp>
      <p:sp>
        <p:nvSpPr>
          <p:cNvPr id="18" name="Text 16"/>
          <p:cNvSpPr txBox="1"/>
          <p:nvPr/>
        </p:nvSpPr>
        <p:spPr>
          <a:xfrm>
            <a:off x="6245352" y="1645920"/>
            <a:ext cx="1051560" cy="475488"/>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franchised; ~98% targeted by end-2028</a:t>
            </a:r>
            <a:endParaRPr lang="en-US" sz="680" dirty="0"/>
          </a:p>
        </p:txBody>
      </p:sp>
      <p:sp>
        <p:nvSpPr>
          <p:cNvPr id="19" name="Shape 17"/>
          <p:cNvSpPr/>
          <p:nvPr/>
        </p:nvSpPr>
        <p:spPr>
          <a:xfrm>
            <a:off x="4937760" y="2221992"/>
            <a:ext cx="1170432" cy="868680"/>
          </a:xfrm>
          <a:prstGeom prst="rect">
            <a:avLst/>
          </a:prstGeom>
          <a:solidFill>
            <a:srgbClr val="F2F5FA"/>
          </a:solidFill>
          <a:ln w="12700">
            <a:solidFill>
              <a:srgbClr val="F2F5FA"/>
            </a:solidFill>
            <a:prstDash val="solid"/>
          </a:ln>
        </p:spPr>
        <p:txBody>
          <a:bodyPr/>
          <a:lstStyle/>
          <a:p>
            <a:endParaRPr lang="LID4096"/>
          </a:p>
        </p:txBody>
      </p:sp>
      <p:sp>
        <p:nvSpPr>
          <p:cNvPr id="20" name="Text 18"/>
          <p:cNvSpPr txBox="1"/>
          <p:nvPr/>
        </p:nvSpPr>
        <p:spPr>
          <a:xfrm>
            <a:off x="5010912" y="2286000"/>
            <a:ext cx="1051560" cy="274320"/>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$139bn</a:t>
            </a:r>
            <a:endParaRPr lang="en-US" sz="1500" dirty="0"/>
          </a:p>
        </p:txBody>
      </p:sp>
      <p:sp>
        <p:nvSpPr>
          <p:cNvPr id="21" name="Text 19"/>
          <p:cNvSpPr txBox="1"/>
          <p:nvPr/>
        </p:nvSpPr>
        <p:spPr>
          <a:xfrm>
            <a:off x="5010912" y="2587752"/>
            <a:ext cx="1051560" cy="475488"/>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systemwide sales; ~13 cents of revenue per franchised sales dollar</a:t>
            </a:r>
            <a:endParaRPr lang="en-US" sz="680" dirty="0"/>
          </a:p>
        </p:txBody>
      </p:sp>
      <p:sp>
        <p:nvSpPr>
          <p:cNvPr id="22" name="Shape 20"/>
          <p:cNvSpPr/>
          <p:nvPr/>
        </p:nvSpPr>
        <p:spPr>
          <a:xfrm>
            <a:off x="6172200" y="2221992"/>
            <a:ext cx="1170432" cy="868680"/>
          </a:xfrm>
          <a:prstGeom prst="rect">
            <a:avLst/>
          </a:prstGeom>
          <a:solidFill>
            <a:srgbClr val="F2F5FA"/>
          </a:solidFill>
          <a:ln w="12700">
            <a:solidFill>
              <a:srgbClr val="F2F5FA"/>
            </a:solidFill>
            <a:prstDash val="solid"/>
          </a:ln>
        </p:spPr>
        <p:txBody>
          <a:bodyPr/>
          <a:lstStyle/>
          <a:p>
            <a:endParaRPr lang="LID4096"/>
          </a:p>
        </p:txBody>
      </p:sp>
      <p:sp>
        <p:nvSpPr>
          <p:cNvPr id="23" name="Text 21"/>
          <p:cNvSpPr txBox="1"/>
          <p:nvPr/>
        </p:nvSpPr>
        <p:spPr>
          <a:xfrm>
            <a:off x="6245352" y="2286000"/>
            <a:ext cx="1051560" cy="274320"/>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84%</a:t>
            </a:r>
            <a:endParaRPr lang="en-US" sz="1500" dirty="0"/>
          </a:p>
        </p:txBody>
      </p:sp>
      <p:sp>
        <p:nvSpPr>
          <p:cNvPr id="24" name="Text 22"/>
          <p:cNvSpPr txBox="1"/>
          <p:nvPr/>
        </p:nvSpPr>
        <p:spPr>
          <a:xfrm>
            <a:off x="6245352" y="2587752"/>
            <a:ext cx="1051560" cy="475488"/>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franchised restaurant margin</a:t>
            </a:r>
            <a:endParaRPr lang="en-US" sz="680" dirty="0"/>
          </a:p>
        </p:txBody>
      </p:sp>
      <p:sp>
        <p:nvSpPr>
          <p:cNvPr id="25" name="Shape 23"/>
          <p:cNvSpPr/>
          <p:nvPr/>
        </p:nvSpPr>
        <p:spPr>
          <a:xfrm>
            <a:off x="4937760" y="3163824"/>
            <a:ext cx="1170432" cy="868680"/>
          </a:xfrm>
          <a:prstGeom prst="rect">
            <a:avLst/>
          </a:prstGeom>
          <a:solidFill>
            <a:srgbClr val="F2F5FA"/>
          </a:solidFill>
          <a:ln w="12700">
            <a:solidFill>
              <a:srgbClr val="F2F5FA"/>
            </a:solidFill>
            <a:prstDash val="solid"/>
          </a:ln>
        </p:spPr>
        <p:txBody>
          <a:bodyPr/>
          <a:lstStyle/>
          <a:p>
            <a:endParaRPr lang="LID4096"/>
          </a:p>
        </p:txBody>
      </p:sp>
      <p:sp>
        <p:nvSpPr>
          <p:cNvPr id="26" name="Text 24"/>
          <p:cNvSpPr txBox="1"/>
          <p:nvPr/>
        </p:nvSpPr>
        <p:spPr>
          <a:xfrm>
            <a:off x="5010912" y="3227832"/>
            <a:ext cx="1051560" cy="274320"/>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47%</a:t>
            </a:r>
            <a:endParaRPr lang="en-US" sz="1500" dirty="0"/>
          </a:p>
        </p:txBody>
      </p:sp>
      <p:sp>
        <p:nvSpPr>
          <p:cNvPr id="27" name="Text 25"/>
          <p:cNvSpPr txBox="1"/>
          <p:nvPr/>
        </p:nvSpPr>
        <p:spPr>
          <a:xfrm>
            <a:off x="5010912" y="3529584"/>
            <a:ext cx="1051560" cy="475488"/>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adjusted operating margin</a:t>
            </a:r>
            <a:endParaRPr lang="en-US" sz="680" dirty="0"/>
          </a:p>
        </p:txBody>
      </p:sp>
      <p:sp>
        <p:nvSpPr>
          <p:cNvPr id="28" name="Shape 26"/>
          <p:cNvSpPr/>
          <p:nvPr/>
        </p:nvSpPr>
        <p:spPr>
          <a:xfrm>
            <a:off x="6172200" y="3163824"/>
            <a:ext cx="1170432" cy="868680"/>
          </a:xfrm>
          <a:prstGeom prst="rect">
            <a:avLst/>
          </a:prstGeom>
          <a:solidFill>
            <a:srgbClr val="F2F5FA"/>
          </a:solidFill>
          <a:ln w="12700">
            <a:solidFill>
              <a:srgbClr val="F2F5FA"/>
            </a:solidFill>
            <a:prstDash val="solid"/>
          </a:ln>
        </p:spPr>
        <p:txBody>
          <a:bodyPr/>
          <a:lstStyle/>
          <a:p>
            <a:endParaRPr lang="LID4096"/>
          </a:p>
        </p:txBody>
      </p:sp>
      <p:sp>
        <p:nvSpPr>
          <p:cNvPr id="29" name="Text 27"/>
          <p:cNvSpPr txBox="1"/>
          <p:nvPr/>
        </p:nvSpPr>
        <p:spPr>
          <a:xfrm>
            <a:off x="6245352" y="3227832"/>
            <a:ext cx="1051560" cy="274320"/>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~220m</a:t>
            </a:r>
            <a:endParaRPr lang="en-US" sz="1500" dirty="0"/>
          </a:p>
        </p:txBody>
      </p:sp>
      <p:sp>
        <p:nvSpPr>
          <p:cNvPr id="30" name="Text 28"/>
          <p:cNvSpPr txBox="1"/>
          <p:nvPr/>
        </p:nvSpPr>
        <p:spPr>
          <a:xfrm>
            <a:off x="6245352" y="3529584"/>
            <a:ext cx="1051560" cy="475488"/>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90-day active loyalty users (Q2-26); $40bn of loyalty sales</a:t>
            </a:r>
            <a:endParaRPr lang="en-US" sz="680" dirty="0"/>
          </a:p>
        </p:txBody>
      </p:sp>
      <p:sp>
        <p:nvSpPr>
          <p:cNvPr id="31" name="Text 29"/>
          <p:cNvSpPr txBox="1"/>
          <p:nvPr/>
        </p:nvSpPr>
        <p:spPr>
          <a:xfrm>
            <a:off x="411480" y="420624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2: Segment economics, FY2025 (comparable sales Q2 2026)</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4379976"/>
          <a:ext cx="6949440" cy="859536"/>
        </p:xfrm>
        <a:graphic>
          <a:graphicData uri="http://schemas.openxmlformats.org/drawingml/2006/table">
            <a:tbl>
              <a:tblPr/>
              <a:tblGrid>
                <a:gridCol w="21488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tblGrid>
              <a:tr h="274320">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Segment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Restaurants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 franchised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Franchised sales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Take rate*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Operating income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Share of op. income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Q2-26 comps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13,706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51.9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5.81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IOM (e.g. Germany, U.K., France, Australia)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10,845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42.4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6.38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IDL &amp; Corporate (e.g. China, Japan)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20,805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35.3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6304">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Total</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45,356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95%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129.7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12.8%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12.39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100%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3" name="Text 30"/>
          <p:cNvSpPr txBox="1"/>
          <p:nvPr/>
        </p:nvSpPr>
        <p:spPr>
          <a:xfrm>
            <a:off x="411480" y="5285232"/>
            <a:ext cx="6949440" cy="128016"/>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*Franchised revenue (rent + royalties + fees) / franchised sales. IDL operating income is shown after corporate costs. Source: McDonald's 2025 10-K, Q2 2026 release.</a:t>
            </a:r>
            <a:endParaRPr lang="en-US" sz="650" dirty="0"/>
          </a:p>
        </p:txBody>
      </p:sp>
      <p:sp>
        <p:nvSpPr>
          <p:cNvPr id="34" name="Text 31"/>
          <p:cNvSpPr txBox="1"/>
          <p:nvPr/>
        </p:nvSpPr>
        <p:spPr>
          <a:xfrm>
            <a:off x="411480" y="5504688"/>
            <a:ext cx="342900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Industry and competitive position</a:t>
            </a:r>
            <a:endParaRPr lang="en-US" sz="950" dirty="0"/>
          </a:p>
        </p:txBody>
      </p:sp>
      <p:sp>
        <p:nvSpPr>
          <p:cNvPr id="35" name="Text 32"/>
          <p:cNvSpPr txBox="1"/>
          <p:nvPr/>
        </p:nvSpPr>
        <p:spPr>
          <a:xfrm>
            <a:off x="411480" y="5705856"/>
            <a:ext cx="3429000" cy="3886200"/>
          </a:xfrm>
          <a:prstGeom prst="rect">
            <a:avLst/>
          </a:prstGeom>
          <a:noFill/>
          <a:ln/>
        </p:spPr>
        <p:txBody>
          <a:bodyPr wrap="square" lIns="0" tIns="0" rIns="0" bIns="0" rtlCol="0" anchor="t"/>
          <a:lstStyle/>
          <a:p>
            <a:pPr marL="0" indent="0">
              <a:spcAft>
                <a:spcPts val="350"/>
              </a:spcAft>
              <a:buNone/>
            </a:pPr>
            <a:r>
              <a:rPr lang="en-US" sz="800" dirty="0">
                <a:solidFill>
                  <a:srgbClr val="262626"/>
                </a:solidFill>
                <a:latin typeface="Arial" pitchFamily="34" charset="0"/>
                <a:ea typeface="Arial" pitchFamily="34" charset="-122"/>
                <a:cs typeface="Arial" pitchFamily="34" charset="-120"/>
              </a:rPr>
              <a:t>McDonald's competes in "informal eating out": burger, chicken and taco chains, fast-casual, coffee shops, convenience stores and delivery. The market is mature and growth is check-led, as independent data confirm: Revenue Management Solutions measured Q4 2025 U.S. quick-service sales +1.3% with traffic -2.0% and check +3.3%; 45% of operators surveyed by the National Restaurant Association reported lower traffic in May 2026, the 15th net decline in 16 months; Circana expects under 1% industry traffic growth in 2026.</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Moat: scale. </a:t>
            </a:r>
            <a:r>
              <a:rPr lang="en-US" sz="800" dirty="0">
                <a:solidFill>
                  <a:srgbClr val="262626"/>
                </a:solidFill>
                <a:latin typeface="Arial" pitchFamily="34" charset="0"/>
                <a:ea typeface="Arial" pitchFamily="34" charset="-122"/>
                <a:cs typeface="Arial" pitchFamily="34" charset="-120"/>
              </a:rPr>
              <a:t>70m+ customers a day, one of the largest loyalty programmes, unmatched buying power, real estate rivals cannot copy, and franchisees who fund most restaurant investment. McDonald's leads in beef but targets +1.5 share points each in chicken and beverages by 2030.</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Franchisee health is the buffer. </a:t>
            </a:r>
            <a:r>
              <a:rPr lang="en-US" sz="800" dirty="0">
                <a:solidFill>
                  <a:srgbClr val="262626"/>
                </a:solidFill>
                <a:latin typeface="Arial" pitchFamily="34" charset="0"/>
                <a:ea typeface="Arial" pitchFamily="34" charset="-122"/>
                <a:cs typeface="Arial" pitchFamily="34" charset="-120"/>
              </a:rPr>
              <a:t>U.S. restaurants average more than $4m of sales and ~$500k of operating cash flow (~12.5%); system cash flow is up ~50% since 2019 (Investor Day). Sustained traffic declines would erode that first.</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Implication: </a:t>
            </a:r>
            <a:r>
              <a:rPr lang="en-US" sz="800" dirty="0">
                <a:solidFill>
                  <a:srgbClr val="262626"/>
                </a:solidFill>
                <a:latin typeface="Arial" pitchFamily="34" charset="0"/>
                <a:ea typeface="Arial" pitchFamily="34" charset="-122"/>
                <a:cs typeface="Arial" pitchFamily="34" charset="-120"/>
              </a:rPr>
              <a:t>McDonald's does not need to win on product to earn its rent. It needs traffic to hold up so franchisees stay profitable enough to keep paying it and to fund remodels.</a:t>
            </a:r>
            <a:endParaRPr lang="en-US" sz="800" dirty="0"/>
          </a:p>
        </p:txBody>
      </p:sp>
      <p:sp>
        <p:nvSpPr>
          <p:cNvPr id="36" name="Text 33"/>
          <p:cNvSpPr txBox="1"/>
          <p:nvPr/>
        </p:nvSpPr>
        <p:spPr>
          <a:xfrm>
            <a:off x="3977640" y="5504688"/>
            <a:ext cx="338328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3: Porter's five forces, quick-service restaurants</a:t>
            </a:r>
            <a:endParaRPr lang="en-US" sz="75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3977640" y="5669280"/>
          <a:ext cx="3383280" cy="1246632"/>
        </p:xfrm>
        <a:graphic>
          <a:graphicData uri="http://schemas.openxmlformats.org/drawingml/2006/table">
            <a:tbl>
              <a:tblPr/>
              <a:tblGrid>
                <a:gridCol w="7315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182880">
                <a:tc>
                  <a:txBody>
                    <a:bodyPr/>
                    <a:lstStyle/>
                    <a:p>
                      <a:pPr marL="0" indent="0" algn="l">
                        <a:buNone/>
                      </a:pPr>
                      <a:r>
                        <a:rPr lang="en-US" sz="680" b="1" dirty="0">
                          <a:solidFill>
                            <a:srgbClr val="FFFFFF"/>
                          </a:solidFill>
                          <a:latin typeface="Arial" pitchFamily="34" charset="0"/>
                          <a:ea typeface="Arial" pitchFamily="34" charset="-122"/>
                          <a:cs typeface="Arial" pitchFamily="34" charset="-120"/>
                        </a:rPr>
                        <a:t>Force</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680" b="1" dirty="0">
                          <a:solidFill>
                            <a:srgbClr val="FFFFFF"/>
                          </a:solidFill>
                          <a:latin typeface="Arial" pitchFamily="34" charset="0"/>
                          <a:ea typeface="Arial" pitchFamily="34" charset="-122"/>
                          <a:cs typeface="Arial" pitchFamily="34" charset="-120"/>
                        </a:rPr>
                        <a:t>Level</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680" b="1" dirty="0">
                          <a:solidFill>
                            <a:srgbClr val="FFFFFF"/>
                          </a:solidFill>
                          <a:latin typeface="Arial" pitchFamily="34" charset="0"/>
                          <a:ea typeface="Arial" pitchFamily="34" charset="-122"/>
                          <a:cs typeface="Arial" pitchFamily="34" charset="-120"/>
                        </a:rPr>
                        <a:t>Why</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82880">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Rivalry</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High</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Mature market, value-led promotions, flat traffic</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82880">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Substitutes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High</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Grocery, convenience, delivery; GLP-1 drugs may cut visits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82880">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Buyer power</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Medium</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No switching cost, price-sensitive; offset by brand and app</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Supplier power</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Low-Med</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Scale buyer; beef and wage inflation land on franchisees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82880">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New entrants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Low</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Real estate, brand, supply chain hard to copy at scale</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8" name="Text 34"/>
          <p:cNvSpPr txBox="1"/>
          <p:nvPr/>
        </p:nvSpPr>
        <p:spPr>
          <a:xfrm>
            <a:off x="3977640" y="7077456"/>
            <a:ext cx="338328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4: Historical operating drivers</a:t>
            </a:r>
            <a:endParaRPr lang="en-US" sz="750" dirty="0"/>
          </a:p>
        </p:txBody>
      </p:sp>
      <p:graphicFrame>
        <p:nvGraphicFramePr>
          <p:cNvPr id="39" name="Table 2"/>
          <p:cNvGraphicFramePr>
            <a:graphicFrameLocks noGrp="1"/>
          </p:cNvGraphicFramePr>
          <p:nvPr>
            <p:extLst>
              <p:ext uri="{D42A27DB-BD31-4B8C-83A1-F6EECF244321}">
                <p14:modId xmlns:p14="http://schemas.microsoft.com/office/powerpoint/2010/main" val="1579011935"/>
              </p:ext>
            </p:extLst>
          </p:nvPr>
        </p:nvGraphicFramePr>
        <p:xfrm>
          <a:off x="3977640" y="7242048"/>
          <a:ext cx="3383280" cy="1759303"/>
        </p:xfrm>
        <a:graphic>
          <a:graphicData uri="http://schemas.openxmlformats.org/drawingml/2006/table">
            <a:tbl>
              <a:tblPr/>
              <a:tblGrid>
                <a:gridCol w="137160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135331">
                <a:tc>
                  <a:txBody>
                    <a:bodyPr/>
                    <a:lstStyle/>
                    <a:p>
                      <a:pPr marL="0" indent="0" algn="l">
                        <a:buNone/>
                      </a:pPr>
                      <a:r>
                        <a:rPr lang="en-US" sz="680" b="1" dirty="0">
                          <a:solidFill>
                            <a:srgbClr val="FFFFFF"/>
                          </a:solidFill>
                          <a:latin typeface="Arial" pitchFamily="34" charset="0"/>
                          <a:ea typeface="Arial" pitchFamily="34" charset="-122"/>
                          <a:cs typeface="Arial" pitchFamily="34" charset="-120"/>
                        </a:rPr>
                        <a:t>Driver</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680" b="1" dirty="0">
                          <a:solidFill>
                            <a:srgbClr val="FFFFFF"/>
                          </a:solidFill>
                          <a:latin typeface="Arial" pitchFamily="34" charset="0"/>
                          <a:ea typeface="Arial" pitchFamily="34" charset="-122"/>
                          <a:cs typeface="Arial" pitchFamily="34" charset="-120"/>
                        </a:rPr>
                        <a:t>FY23</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680" b="1" dirty="0">
                          <a:solidFill>
                            <a:srgbClr val="FFFFFF"/>
                          </a:solidFill>
                          <a:latin typeface="Arial" pitchFamily="34" charset="0"/>
                          <a:ea typeface="Arial" pitchFamily="34" charset="-122"/>
                          <a:cs typeface="Arial" pitchFamily="34" charset="-120"/>
                        </a:rPr>
                        <a:t>FY24</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680" b="1" dirty="0">
                          <a:solidFill>
                            <a:srgbClr val="FFFFFF"/>
                          </a:solidFill>
                          <a:latin typeface="Arial" pitchFamily="34" charset="0"/>
                          <a:ea typeface="Arial" pitchFamily="34" charset="-122"/>
                          <a:cs typeface="Arial" pitchFamily="34" charset="-120"/>
                        </a:rPr>
                        <a:t>FY25</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680" b="1" dirty="0">
                          <a:solidFill>
                            <a:srgbClr val="FFFFFF"/>
                          </a:solidFill>
                          <a:latin typeface="Arial" pitchFamily="34" charset="0"/>
                          <a:ea typeface="Arial" pitchFamily="34" charset="-122"/>
                          <a:cs typeface="Arial" pitchFamily="34" charset="-120"/>
                        </a:rPr>
                        <a:t>Q2-26</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Global comparable sales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+9.0%</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-0.1%</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+3.1%</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+1.3%</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U.S. comparable sales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+8.7%</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+0.2%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+2.1%</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+0.8%</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Net unit growth</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+4.0%</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+4.3%</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Systemwide sales ($bn)</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129.5</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130.7</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139.4</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Take rate (franchised)</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12.9%</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13.0%</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12.8%</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U.S. company-op. margin</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15.2%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13.0%</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11.6%</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SG&amp;A % systemwide sales</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Adj. operating margin</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46.3%</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46.9%</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47.7%</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Capex % of revenue</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9.2%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10.7%</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12.5%</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FCF conversion (co. def.)</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86%</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81%</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84%</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0"/>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After-tax ROIC (reported)</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25.2%</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21.8%</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20.3%</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1"/>
                  </a:ext>
                </a:extLst>
              </a:tr>
              <a:tr h="135331">
                <a:tc>
                  <a:txBody>
                    <a:bodyPr/>
                    <a:lstStyle/>
                    <a:p>
                      <a:pPr marL="0" indent="0" algn="l">
                        <a:buNone/>
                      </a:pPr>
                      <a:r>
                        <a:rPr lang="en-US" sz="680" dirty="0">
                          <a:solidFill>
                            <a:srgbClr val="262626"/>
                          </a:solidFill>
                          <a:latin typeface="Arial" pitchFamily="34" charset="0"/>
                          <a:ea typeface="Arial" pitchFamily="34" charset="-122"/>
                          <a:cs typeface="Arial" pitchFamily="34" charset="-120"/>
                        </a:rPr>
                        <a:t>Net debt / EBITDA</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2.6x</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2.7x</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2.7x</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680" dirty="0">
                          <a:solidFill>
                            <a:srgbClr val="262626"/>
                          </a:solidFill>
                          <a:latin typeface="Arial" pitchFamily="34" charset="0"/>
                          <a:ea typeface="Arial" pitchFamily="34" charset="-122"/>
                          <a:cs typeface="Arial" pitchFamily="34" charset="-120"/>
                        </a:rPr>
                        <a:t>-</a:t>
                      </a:r>
                      <a:endParaRPr lang="en-US" sz="68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40" name="Text 35"/>
          <p:cNvSpPr txBox="1"/>
          <p:nvPr/>
        </p:nvSpPr>
        <p:spPr>
          <a:xfrm>
            <a:off x="3977640" y="9052560"/>
            <a:ext cx="3383280" cy="41148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Growth has turned check-led and returns are falling as capex rises, while the rent and royalty engine is unchanged. Take rate = franchised revenue / franchised sales. FCF conversion = (CFO - capex) / net income. Source: 10-K 2025, Q2-26 release, our calculations.</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28600"/>
            <a:ext cx="4937760" cy="164592"/>
          </a:xfrm>
          <a:prstGeom prst="rect">
            <a:avLst/>
          </a:prstGeom>
          <a:noFill/>
          <a:ln/>
        </p:spPr>
        <p:txBody>
          <a:bodyPr wrap="square" lIns="0" tIns="0" rIns="0" bIns="0" rtlCol="0" anchor="t"/>
          <a:lstStyle/>
          <a:p>
            <a:pPr marL="0" indent="0">
              <a:buNone/>
            </a:pPr>
            <a:r>
              <a:rPr lang="en-US" sz="700" b="1" dirty="0">
                <a:solidFill>
                  <a:srgbClr val="595959"/>
                </a:solidFill>
                <a:latin typeface="Arial" pitchFamily="34" charset="0"/>
                <a:ea typeface="Arial" pitchFamily="34" charset="-122"/>
                <a:cs typeface="Arial" pitchFamily="34" charset="-120"/>
              </a:rPr>
              <a:t>McDONALD'S CORPORATION (NYSE: MCD)  |  EQUITY RESEARCH  |  US RESTAURANTS</a:t>
            </a:r>
            <a:endParaRPr lang="en-US" sz="700" dirty="0"/>
          </a:p>
        </p:txBody>
      </p:sp>
      <p:sp>
        <p:nvSpPr>
          <p:cNvPr id="3" name="Text 1"/>
          <p:cNvSpPr txBox="1"/>
          <p:nvPr/>
        </p:nvSpPr>
        <p:spPr>
          <a:xfrm>
            <a:off x="5074920" y="228600"/>
            <a:ext cx="2286000" cy="164592"/>
          </a:xfrm>
          <a:prstGeom prst="rect">
            <a:avLst/>
          </a:prstGeom>
          <a:noFill/>
          <a:ln/>
        </p:spPr>
        <p:txBody>
          <a:bodyPr wrap="square" lIns="0" tIns="0" rIns="0" bIns="0" rtlCol="0" anchor="t"/>
          <a:lstStyle/>
          <a:p>
            <a:pPr marL="0" indent="0" algn="r">
              <a:buNone/>
            </a:pPr>
            <a:r>
              <a:rPr lang="en-US" sz="700" dirty="0">
                <a:solidFill>
                  <a:srgbClr val="595959"/>
                </a:solidFill>
                <a:latin typeface="Arial" pitchFamily="34" charset="0"/>
                <a:ea typeface="Arial" pitchFamily="34" charset="-122"/>
                <a:cs typeface="Arial" pitchFamily="34" charset="-120"/>
              </a:rPr>
              <a:t>25 September 2026 (revised 26 September)</a:t>
            </a:r>
            <a:endParaRPr lang="en-US" sz="700" dirty="0"/>
          </a:p>
        </p:txBody>
      </p:sp>
      <p:sp>
        <p:nvSpPr>
          <p:cNvPr id="4" name="Text 2"/>
          <p:cNvSpPr txBox="1"/>
          <p:nvPr/>
        </p:nvSpPr>
        <p:spPr>
          <a:xfrm>
            <a:off x="411480" y="9710928"/>
            <a:ext cx="4572000" cy="146304"/>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Student project, not investment advice. See disclaimer on page 6.</a:t>
            </a:r>
            <a:endParaRPr lang="en-US" sz="650" dirty="0"/>
          </a:p>
        </p:txBody>
      </p:sp>
      <p:sp>
        <p:nvSpPr>
          <p:cNvPr id="5" name="Text 3"/>
          <p:cNvSpPr txBox="1"/>
          <p:nvPr/>
        </p:nvSpPr>
        <p:spPr>
          <a:xfrm>
            <a:off x="5989320" y="9710928"/>
            <a:ext cx="1371600" cy="146304"/>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Page 3 of 6</a:t>
            </a:r>
            <a:endParaRPr lang="en-US" sz="650" dirty="0"/>
          </a:p>
        </p:txBody>
      </p:sp>
      <p:sp>
        <p:nvSpPr>
          <p:cNvPr id="6" name="Text 4"/>
          <p:cNvSpPr txBox="1"/>
          <p:nvPr/>
        </p:nvSpPr>
        <p:spPr>
          <a:xfrm>
            <a:off x="411480" y="457200"/>
            <a:ext cx="6949440" cy="292608"/>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Investment thesis: can earnings keep growing while traffic falls?</a:t>
            </a:r>
            <a:endParaRPr lang="en-US" sz="1500" dirty="0"/>
          </a:p>
        </p:txBody>
      </p:sp>
      <p:sp>
        <p:nvSpPr>
          <p:cNvPr id="7" name="Text 5"/>
          <p:cNvSpPr txBox="1"/>
          <p:nvPr/>
        </p:nvSpPr>
        <p:spPr>
          <a:xfrm>
            <a:off x="411480" y="758952"/>
            <a:ext cx="6949440" cy="182880"/>
          </a:xfrm>
          <a:prstGeom prst="rect">
            <a:avLst/>
          </a:prstGeom>
          <a:noFill/>
          <a:ln/>
        </p:spPr>
        <p:txBody>
          <a:bodyPr wrap="square" lIns="0" tIns="0" rIns="0" bIns="0" rtlCol="0" anchor="t"/>
          <a:lstStyle/>
          <a:p>
            <a:pPr marL="0" indent="0">
              <a:buNone/>
            </a:pPr>
            <a:r>
              <a:rPr lang="en-US" sz="900" i="1" dirty="0">
                <a:solidFill>
                  <a:srgbClr val="595959"/>
                </a:solidFill>
                <a:latin typeface="Arial" pitchFamily="34" charset="0"/>
                <a:ea typeface="Arial" pitchFamily="34" charset="-122"/>
                <a:cs typeface="Arial" pitchFamily="34" charset="-120"/>
              </a:rPr>
              <a:t>Yes for the next two to three years, not indefinitely; the share price reflects most of the recovery</a:t>
            </a:r>
            <a:endParaRPr lang="en-US" sz="900" dirty="0"/>
          </a:p>
        </p:txBody>
      </p:sp>
      <p:sp>
        <p:nvSpPr>
          <p:cNvPr id="8" name="Text 6"/>
          <p:cNvSpPr txBox="1"/>
          <p:nvPr/>
        </p:nvSpPr>
        <p:spPr>
          <a:xfrm>
            <a:off x="411480" y="1051560"/>
            <a:ext cx="425196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1. Near term, yes: the model can tolerate weak traffic for a while</a:t>
            </a:r>
            <a:endParaRPr lang="en-US" sz="950" dirty="0"/>
          </a:p>
        </p:txBody>
      </p:sp>
      <p:sp>
        <p:nvSpPr>
          <p:cNvPr id="9" name="Text 7"/>
          <p:cNvSpPr txBox="1"/>
          <p:nvPr/>
        </p:nvSpPr>
        <p:spPr>
          <a:xfrm>
            <a:off x="411480" y="1252728"/>
            <a:ext cx="4251960" cy="2331720"/>
          </a:xfrm>
          <a:prstGeom prst="rect">
            <a:avLst/>
          </a:prstGeom>
          <a:noFill/>
          <a:ln/>
        </p:spPr>
        <p:txBody>
          <a:bodyPr wrap="square" lIns="0" tIns="0" rIns="0" bIns="0" rtlCol="0" anchor="t"/>
          <a:lstStyle/>
          <a:p>
            <a:pPr marL="0" indent="0">
              <a:spcAft>
                <a:spcPts val="350"/>
              </a:spcAft>
              <a:buNone/>
            </a:pPr>
            <a:r>
              <a:rPr lang="en-US" sz="800" dirty="0">
                <a:solidFill>
                  <a:srgbClr val="262626"/>
                </a:solidFill>
                <a:latin typeface="Arial" pitchFamily="34" charset="0"/>
                <a:ea typeface="Arial" pitchFamily="34" charset="-122"/>
                <a:cs typeface="Arial" pitchFamily="34" charset="-120"/>
              </a:rPr>
              <a:t>Q2 2026 shows it: diluted EPS rose 6% to $3.32 while U.S. guest counts fell, because U.S. comps of +0.8% came entirely from check and mix and McDonald's is paid on sales, not visits. Four levers, mostly in management's control, carry EPS to 2030:</a:t>
            </a:r>
            <a:endParaRPr lang="en-US" sz="800" dirty="0"/>
          </a:p>
          <a:p>
            <a:pPr marL="127000" indent="-127000">
              <a:spcAft>
                <a:spcPts val="350"/>
              </a:spcAft>
              <a:buSzPct val="100000"/>
              <a:buChar char="•"/>
            </a:pPr>
            <a:r>
              <a:rPr lang="en-US" sz="800" dirty="0">
                <a:solidFill>
                  <a:srgbClr val="262626"/>
                </a:solidFill>
                <a:latin typeface="Arial" pitchFamily="34" charset="0"/>
                <a:ea typeface="Arial" pitchFamily="34" charset="-122"/>
                <a:cs typeface="Arial" pitchFamily="34" charset="-120"/>
              </a:rPr>
              <a:t>New restaurants add ~2.5% to systemwide sales in 2026-27 and ~2% by 2030; we credit only 1.2-1.5% to revenue, as most openings are IDL units paying a ~5% royalty.</a:t>
            </a:r>
            <a:endParaRPr lang="en-US" sz="800" dirty="0"/>
          </a:p>
          <a:p>
            <a:pPr marL="127000" indent="-127000">
              <a:spcAft>
                <a:spcPts val="350"/>
              </a:spcAft>
              <a:buSzPct val="100000"/>
              <a:buChar char="•"/>
            </a:pPr>
            <a:r>
              <a:rPr lang="en-US" sz="800" dirty="0">
                <a:solidFill>
                  <a:srgbClr val="262626"/>
                </a:solidFill>
                <a:latin typeface="Arial" pitchFamily="34" charset="0"/>
                <a:ea typeface="Arial" pitchFamily="34" charset="-122"/>
                <a:cs typeface="Arial" pitchFamily="34" charset="-120"/>
              </a:rPr>
              <a:t>Refranchising from 95% to ~98% by end-2028 swaps low-margin company sales for rent and royalties: revenue falls ~4.5% in 2027 and 2028, operating income barely moves, margin rises.</a:t>
            </a:r>
            <a:endParaRPr lang="en-US" sz="800" dirty="0"/>
          </a:p>
          <a:p>
            <a:pPr marL="127000" indent="-127000">
              <a:spcAft>
                <a:spcPts val="350"/>
              </a:spcAft>
              <a:buSzPct val="100000"/>
              <a:buChar char="•"/>
            </a:pPr>
            <a:r>
              <a:rPr lang="en-US" sz="800" dirty="0">
                <a:solidFill>
                  <a:srgbClr val="262626"/>
                </a:solidFill>
                <a:latin typeface="Arial" pitchFamily="34" charset="0"/>
                <a:ea typeface="Arial" pitchFamily="34" charset="-122"/>
                <a:cs typeface="Arial" pitchFamily="34" charset="-120"/>
              </a:rPr>
              <a:t>G&amp;A falls from ~2.2% to ~1.9% of systemwide sales by 2030, worth ~$0.5bn a year by then.</a:t>
            </a:r>
            <a:endParaRPr lang="en-US" sz="800" dirty="0"/>
          </a:p>
          <a:p>
            <a:pPr marL="127000" indent="-127000">
              <a:spcAft>
                <a:spcPts val="350"/>
              </a:spcAft>
              <a:buSzPct val="100000"/>
              <a:buChar char="•"/>
            </a:pPr>
            <a:r>
              <a:rPr lang="en-US" sz="800" dirty="0">
                <a:solidFill>
                  <a:srgbClr val="262626"/>
                </a:solidFill>
                <a:latin typeface="Arial" pitchFamily="34" charset="0"/>
                <a:ea typeface="Arial" pitchFamily="34" charset="-122"/>
                <a:cs typeface="Arial" pitchFamily="34" charset="-120"/>
              </a:rPr>
              <a:t>Buybacks cut the share count ~0.8% a year.</a:t>
            </a:r>
            <a:endParaRPr lang="en-US" sz="800" dirty="0"/>
          </a:p>
          <a:p>
            <a:pPr marL="0" indent="0">
              <a:spcAft>
                <a:spcPts val="350"/>
              </a:spcAft>
              <a:buNone/>
            </a:pPr>
            <a:r>
              <a:rPr lang="en-US" sz="800" b="1" dirty="0">
                <a:solidFill>
                  <a:srgbClr val="1F3864"/>
                </a:solidFill>
                <a:latin typeface="Arial" pitchFamily="34" charset="0"/>
                <a:ea typeface="Arial" pitchFamily="34" charset="-122"/>
                <a:cs typeface="Arial" pitchFamily="34" charset="-120"/>
              </a:rPr>
              <a:t>Result: </a:t>
            </a:r>
            <a:r>
              <a:rPr lang="en-US" sz="800" dirty="0">
                <a:solidFill>
                  <a:srgbClr val="262626"/>
                </a:solidFill>
                <a:latin typeface="Arial" pitchFamily="34" charset="0"/>
                <a:ea typeface="Arial" pitchFamily="34" charset="-122"/>
                <a:cs typeface="Arial" pitchFamily="34" charset="-120"/>
              </a:rPr>
              <a:t>adjusted operating margin rises from 47% to 53% (the low end of management's low-to-mid 50s target) and EPS from $12.20 to $16.21.</a:t>
            </a:r>
            <a:endParaRPr lang="en-US" sz="800" dirty="0"/>
          </a:p>
        </p:txBody>
      </p:sp>
      <p:sp>
        <p:nvSpPr>
          <p:cNvPr id="10" name="Text 8"/>
          <p:cNvSpPr txBox="1"/>
          <p:nvPr/>
        </p:nvSpPr>
        <p:spPr>
          <a:xfrm>
            <a:off x="411480" y="3639312"/>
            <a:ext cx="425196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2. Long term, no: check-led growth has a ceiling</a:t>
            </a:r>
            <a:endParaRPr lang="en-US" sz="950" dirty="0"/>
          </a:p>
        </p:txBody>
      </p:sp>
      <p:sp>
        <p:nvSpPr>
          <p:cNvPr id="11" name="Text 9"/>
          <p:cNvSpPr txBox="1"/>
          <p:nvPr/>
        </p:nvSpPr>
        <p:spPr>
          <a:xfrm>
            <a:off x="411480" y="3840480"/>
            <a:ext cx="4251960" cy="1783080"/>
          </a:xfrm>
          <a:prstGeom prst="rect">
            <a:avLst/>
          </a:prstGeom>
          <a:noFill/>
          <a:ln/>
        </p:spPr>
        <p:txBody>
          <a:bodyPr wrap="square" lIns="0" tIns="0" rIns="0" bIns="0" rtlCol="0" anchor="t"/>
          <a:lstStyle/>
          <a:p>
            <a:pPr marL="0" indent="0">
              <a:spcAft>
                <a:spcPts val="350"/>
              </a:spcAft>
              <a:buNone/>
            </a:pPr>
            <a:r>
              <a:rPr lang="en-US" sz="800" dirty="0">
                <a:solidFill>
                  <a:srgbClr val="262626"/>
                </a:solidFill>
                <a:latin typeface="Arial" pitchFamily="34" charset="0"/>
                <a:ea typeface="Arial" pitchFamily="34" charset="-122"/>
                <a:cs typeface="Arial" pitchFamily="34" charset="-120"/>
              </a:rPr>
              <a:t>The Q2 traffic miss was a pricing error. Only 60-65% of U.S. restaurants priced the "10 items under $3" menu as recommended, while digital deals and the $1 add-on were withdrawn, so the system effectively raised prices for its most loyal customers (about two-thirds of the miss). Management now expects slightly negative U.S. comps in Q3 and calls the recovery "a 2027 story". With industry traffic flat, comps of 3%+ require share gains in chicken and beverages: plausible (the new beverages are ahead of plan, with checks ~50% above average) but unproven at scale. Sustained traffic declines would eventually squeeze franchisee cash flow and, with it, pricing power and unit growth.</a:t>
            </a:r>
            <a:endParaRPr lang="en-US" sz="800" dirty="0"/>
          </a:p>
        </p:txBody>
      </p:sp>
      <p:sp>
        <p:nvSpPr>
          <p:cNvPr id="12" name="Text 10"/>
          <p:cNvSpPr txBox="1"/>
          <p:nvPr/>
        </p:nvSpPr>
        <p:spPr>
          <a:xfrm>
            <a:off x="4846320" y="1051560"/>
            <a:ext cx="251460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5: Adjusted EPS bridge, FY25A to FY30E</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46320" y="1216152"/>
          <a:ext cx="2514600" cy="1243584"/>
        </p:xfrm>
        <a:graphic>
          <a:graphicData uri="http://schemas.openxmlformats.org/drawingml/2006/table">
            <a:tbl>
              <a:tblPr/>
              <a:tblGrid>
                <a:gridCol w="1828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155448">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 per share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55448">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FY25A adjusted EPS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12.20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55448">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Sales growth (at FY25 margin)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55448">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Margin expansion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55448">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Buybacks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+0.64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55448">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Higher interest cost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55448">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Tax and other</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-0.18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55448">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FY30E adjusted EPS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16.21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7"/>
                  </a:ext>
                </a:extLst>
              </a:tr>
            </a:tbl>
          </a:graphicData>
        </a:graphic>
      </p:graphicFrame>
      <p:sp>
        <p:nvSpPr>
          <p:cNvPr id="14" name="Text 11"/>
          <p:cNvSpPr txBox="1"/>
          <p:nvPr/>
        </p:nvSpPr>
        <p:spPr>
          <a:xfrm>
            <a:off x="4846320" y="2487168"/>
            <a:ext cx="2514600" cy="22860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Margin expansion = refranchising, G&amp;A savings and operating leverage. Source: our model.</a:t>
            </a:r>
            <a:endParaRPr lang="en-US" sz="650" dirty="0"/>
          </a:p>
        </p:txBody>
      </p:sp>
      <p:sp>
        <p:nvSpPr>
          <p:cNvPr id="15" name="Shape 12"/>
          <p:cNvSpPr/>
          <p:nvPr/>
        </p:nvSpPr>
        <p:spPr>
          <a:xfrm>
            <a:off x="4846320" y="2788920"/>
            <a:ext cx="2514600" cy="2834640"/>
          </a:xfrm>
          <a:prstGeom prst="rect">
            <a:avLst/>
          </a:prstGeom>
          <a:solidFill>
            <a:srgbClr val="F2F5FA"/>
          </a:solidFill>
          <a:ln w="12700">
            <a:solidFill>
              <a:srgbClr val="F2F5FA"/>
            </a:solidFill>
            <a:prstDash val="solid"/>
          </a:ln>
        </p:spPr>
        <p:txBody>
          <a:bodyPr/>
          <a:lstStyle/>
          <a:p>
            <a:endParaRPr lang="LID4096"/>
          </a:p>
        </p:txBody>
      </p:sp>
      <p:sp>
        <p:nvSpPr>
          <p:cNvPr id="16" name="Text 13"/>
          <p:cNvSpPr txBox="1"/>
          <p:nvPr/>
        </p:nvSpPr>
        <p:spPr>
          <a:xfrm>
            <a:off x="4937760" y="2852928"/>
            <a:ext cx="2377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3. What $237 already assumes</a:t>
            </a:r>
            <a:endParaRPr lang="en-US" sz="950" dirty="0"/>
          </a:p>
        </p:txBody>
      </p:sp>
      <p:sp>
        <p:nvSpPr>
          <p:cNvPr id="17" name="Text 14"/>
          <p:cNvSpPr txBox="1"/>
          <p:nvPr/>
        </p:nvSpPr>
        <p:spPr>
          <a:xfrm>
            <a:off x="4937760" y="3054096"/>
            <a:ext cx="2331720" cy="274320"/>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Reverse DCF: what one input must be for our DCF to equal today's price, all else unchanged</a:t>
            </a:r>
            <a:endParaRPr lang="en-US" sz="680" dirty="0"/>
          </a:p>
        </p:txBody>
      </p:sp>
      <p:sp>
        <p:nvSpPr>
          <p:cNvPr id="18" name="Text 15"/>
          <p:cNvSpPr txBox="1"/>
          <p:nvPr/>
        </p:nvSpPr>
        <p:spPr>
          <a:xfrm>
            <a:off x="4937760" y="3364992"/>
            <a:ext cx="777240" cy="274320"/>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2.3%</a:t>
            </a:r>
            <a:endParaRPr lang="en-US" sz="1400" dirty="0"/>
          </a:p>
        </p:txBody>
      </p:sp>
      <p:sp>
        <p:nvSpPr>
          <p:cNvPr id="19" name="Text 16"/>
          <p:cNvSpPr txBox="1"/>
          <p:nvPr/>
        </p:nvSpPr>
        <p:spPr>
          <a:xfrm>
            <a:off x="5742432" y="3410712"/>
            <a:ext cx="1554480" cy="256032"/>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perpetual growth (vs our 2.5%)</a:t>
            </a:r>
            <a:endParaRPr lang="en-US" sz="700" dirty="0"/>
          </a:p>
        </p:txBody>
      </p:sp>
      <p:sp>
        <p:nvSpPr>
          <p:cNvPr id="20" name="Text 17"/>
          <p:cNvSpPr txBox="1"/>
          <p:nvPr/>
        </p:nvSpPr>
        <p:spPr>
          <a:xfrm>
            <a:off x="4937760" y="3694176"/>
            <a:ext cx="777240" cy="274320"/>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7.8%</a:t>
            </a:r>
            <a:endParaRPr lang="en-US" sz="1400" dirty="0"/>
          </a:p>
        </p:txBody>
      </p:sp>
      <p:sp>
        <p:nvSpPr>
          <p:cNvPr id="21" name="Text 18"/>
          <p:cNvSpPr txBox="1"/>
          <p:nvPr/>
        </p:nvSpPr>
        <p:spPr>
          <a:xfrm>
            <a:off x="5742432" y="3739896"/>
            <a:ext cx="1554480" cy="256032"/>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WACC (vs our 7.6%)</a:t>
            </a:r>
            <a:endParaRPr lang="en-US" sz="700" dirty="0"/>
          </a:p>
        </p:txBody>
      </p:sp>
      <p:sp>
        <p:nvSpPr>
          <p:cNvPr id="22" name="Text 19"/>
          <p:cNvSpPr txBox="1"/>
          <p:nvPr/>
        </p:nvSpPr>
        <p:spPr>
          <a:xfrm>
            <a:off x="4937760" y="4023360"/>
            <a:ext cx="777240" cy="274320"/>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-0.7pp</a:t>
            </a:r>
            <a:endParaRPr lang="en-US" sz="1400" dirty="0"/>
          </a:p>
        </p:txBody>
      </p:sp>
      <p:sp>
        <p:nvSpPr>
          <p:cNvPr id="23" name="Text 20"/>
          <p:cNvSpPr txBox="1"/>
          <p:nvPr/>
        </p:nvSpPr>
        <p:spPr>
          <a:xfrm>
            <a:off x="5742432" y="4069080"/>
            <a:ext cx="1554480" cy="256032"/>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comps every year vs our forecast</a:t>
            </a:r>
            <a:endParaRPr lang="en-US" sz="700" dirty="0"/>
          </a:p>
        </p:txBody>
      </p:sp>
      <p:sp>
        <p:nvSpPr>
          <p:cNvPr id="24" name="Text 21"/>
          <p:cNvSpPr txBox="1"/>
          <p:nvPr/>
        </p:nvSpPr>
        <p:spPr>
          <a:xfrm>
            <a:off x="4937760" y="4389120"/>
            <a:ext cx="2331720" cy="1188720"/>
          </a:xfrm>
          <a:prstGeom prst="rect">
            <a:avLst/>
          </a:prstGeom>
          <a:noFill/>
          <a:ln/>
        </p:spPr>
        <p:txBody>
          <a:bodyPr wrap="square" lIns="0" tIns="0" rIns="0" bIns="0" rtlCol="0" anchor="t"/>
          <a:lstStyle/>
          <a:p>
            <a:pPr marL="0" indent="0">
              <a:spcAft>
                <a:spcPts val="350"/>
              </a:spcAft>
              <a:buNone/>
            </a:pPr>
            <a:r>
              <a:rPr lang="en-US" sz="720" dirty="0">
                <a:solidFill>
                  <a:srgbClr val="262626"/>
                </a:solidFill>
                <a:latin typeface="Arial" pitchFamily="34" charset="0"/>
                <a:ea typeface="Arial" pitchFamily="34" charset="-122"/>
                <a:cs typeface="Arial" pitchFamily="34" charset="-120"/>
              </a:rPr>
              <a:t>The market prices a slightly weaker recovery than we do, which is why our target sits above the price. The Street is more optimistic still (average target ~$312). We are more cautious because we treat restructuring as a recurring cash cost (charged every year since 2023: $362m, $291m, $229m, ~$250m in 2026) and use a 5.2% risk-free rate.</a:t>
            </a:r>
            <a:endParaRPr lang="en-US" sz="720" dirty="0"/>
          </a:p>
        </p:txBody>
      </p:sp>
      <p:sp>
        <p:nvSpPr>
          <p:cNvPr id="25" name="Text 22"/>
          <p:cNvSpPr txBox="1"/>
          <p:nvPr/>
        </p:nvSpPr>
        <p:spPr>
          <a:xfrm>
            <a:off x="411480" y="571500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6: Revenue (US$bn, bars) and adjusted operating margin (%, line), FY2021A to FY2030E</a:t>
            </a:r>
            <a:endParaRPr lang="en-US" sz="750" dirty="0"/>
          </a:p>
        </p:txBody>
      </p:sp>
      <p:graphicFrame>
        <p:nvGraphicFramePr>
          <p:cNvPr id="26" name="Chart 0"/>
          <p:cNvGraphicFramePr/>
          <p:nvPr/>
        </p:nvGraphicFramePr>
        <p:xfrm>
          <a:off x="365760" y="5870448"/>
          <a:ext cx="704088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3"/>
          <p:cNvSpPr txBox="1"/>
          <p:nvPr/>
        </p:nvSpPr>
        <p:spPr>
          <a:xfrm>
            <a:off x="411480" y="7708392"/>
            <a:ext cx="6949440"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FY26E-FY30E = our forecast. FY22 excludes Russia exit charges; FY23 excludes $362m of restructuring and software charges. Source: company filings, our estimates.</a:t>
            </a:r>
            <a:endParaRPr lang="en-US" sz="650" dirty="0"/>
          </a:p>
        </p:txBody>
      </p:sp>
      <p:sp>
        <p:nvSpPr>
          <p:cNvPr id="28" name="Text 24"/>
          <p:cNvSpPr txBox="1"/>
          <p:nvPr/>
        </p:nvSpPr>
        <p:spPr>
          <a:xfrm>
            <a:off x="411480" y="790956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7: Key forecasts</a:t>
            </a:r>
            <a:endParaRPr lang="en-US" sz="7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11480" y="8074152"/>
          <a:ext cx="6949440" cy="992124"/>
        </p:xfrm>
        <a:graphic>
          <a:graphicData uri="http://schemas.openxmlformats.org/drawingml/2006/table">
            <a:tbl>
              <a:tblPr/>
              <a:tblGrid>
                <a:gridCol w="25603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141732">
                <a:tc>
                  <a:txBody>
                    <a:bodyPr/>
                    <a:lstStyle/>
                    <a:p>
                      <a:pPr marL="0" indent="0" algn="l">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FY25A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FY26E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FY27E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FY28E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FY29E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FY30E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Comparable sales growth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Refranchising effect on revenue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Capex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Unlevered FCF, DCF basis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Free cash flow, company definition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FCF conversion, company definition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0" name="Text 25"/>
          <p:cNvSpPr txBox="1"/>
          <p:nvPr/>
        </p:nvSpPr>
        <p:spPr>
          <a:xfrm>
            <a:off x="411480" y="9098280"/>
            <a:ext cx="6949440" cy="27432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Unlevered FCF is before interest and feeds the DCF (page 4). Free cash flow = cash from operations less capex; conversion = FCF / GAAP net income, as McDonald's defines it (guidance: low-to-mid 80% in 2026, mid-to-high 80% by 2030).</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28600"/>
            <a:ext cx="4937760" cy="164592"/>
          </a:xfrm>
          <a:prstGeom prst="rect">
            <a:avLst/>
          </a:prstGeom>
          <a:noFill/>
          <a:ln/>
        </p:spPr>
        <p:txBody>
          <a:bodyPr wrap="square" lIns="0" tIns="0" rIns="0" bIns="0" rtlCol="0" anchor="t"/>
          <a:lstStyle/>
          <a:p>
            <a:pPr marL="0" indent="0">
              <a:buNone/>
            </a:pPr>
            <a:r>
              <a:rPr lang="en-US" sz="700" b="1" dirty="0">
                <a:solidFill>
                  <a:srgbClr val="595959"/>
                </a:solidFill>
                <a:latin typeface="Arial" pitchFamily="34" charset="0"/>
                <a:ea typeface="Arial" pitchFamily="34" charset="-122"/>
                <a:cs typeface="Arial" pitchFamily="34" charset="-120"/>
              </a:rPr>
              <a:t>McDONALD'S CORPORATION (NYSE: MCD)  |  EQUITY RESEARCH  |  US RESTAURANTS</a:t>
            </a:r>
            <a:endParaRPr lang="en-US" sz="700" dirty="0"/>
          </a:p>
        </p:txBody>
      </p:sp>
      <p:sp>
        <p:nvSpPr>
          <p:cNvPr id="3" name="Text 1"/>
          <p:cNvSpPr txBox="1"/>
          <p:nvPr/>
        </p:nvSpPr>
        <p:spPr>
          <a:xfrm>
            <a:off x="5074920" y="228600"/>
            <a:ext cx="2286000" cy="164592"/>
          </a:xfrm>
          <a:prstGeom prst="rect">
            <a:avLst/>
          </a:prstGeom>
          <a:noFill/>
          <a:ln/>
        </p:spPr>
        <p:txBody>
          <a:bodyPr wrap="square" lIns="0" tIns="0" rIns="0" bIns="0" rtlCol="0" anchor="t"/>
          <a:lstStyle/>
          <a:p>
            <a:pPr marL="0" indent="0" algn="r">
              <a:buNone/>
            </a:pPr>
            <a:r>
              <a:rPr lang="en-US" sz="700" dirty="0">
                <a:solidFill>
                  <a:srgbClr val="595959"/>
                </a:solidFill>
                <a:latin typeface="Arial" pitchFamily="34" charset="0"/>
                <a:ea typeface="Arial" pitchFamily="34" charset="-122"/>
                <a:cs typeface="Arial" pitchFamily="34" charset="-120"/>
              </a:rPr>
              <a:t>25 September 2026 (revised 26 September)</a:t>
            </a:r>
            <a:endParaRPr lang="en-US" sz="700" dirty="0"/>
          </a:p>
        </p:txBody>
      </p:sp>
      <p:sp>
        <p:nvSpPr>
          <p:cNvPr id="4" name="Text 2"/>
          <p:cNvSpPr txBox="1"/>
          <p:nvPr/>
        </p:nvSpPr>
        <p:spPr>
          <a:xfrm>
            <a:off x="411480" y="9710928"/>
            <a:ext cx="4572000" cy="146304"/>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Student project, not investment advice. See disclaimer on page 6.</a:t>
            </a:r>
            <a:endParaRPr lang="en-US" sz="650" dirty="0"/>
          </a:p>
        </p:txBody>
      </p:sp>
      <p:sp>
        <p:nvSpPr>
          <p:cNvPr id="5" name="Text 3"/>
          <p:cNvSpPr txBox="1"/>
          <p:nvPr/>
        </p:nvSpPr>
        <p:spPr>
          <a:xfrm>
            <a:off x="5989320" y="9710928"/>
            <a:ext cx="1371600" cy="146304"/>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Page 4 of 6</a:t>
            </a:r>
            <a:endParaRPr lang="en-US" sz="650" dirty="0"/>
          </a:p>
        </p:txBody>
      </p:sp>
      <p:sp>
        <p:nvSpPr>
          <p:cNvPr id="6" name="Text 4"/>
          <p:cNvSpPr txBox="1"/>
          <p:nvPr/>
        </p:nvSpPr>
        <p:spPr>
          <a:xfrm>
            <a:off x="411480" y="457200"/>
            <a:ext cx="6949440" cy="292608"/>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Valuation: DCF and franchise-heavy peers both point to ~$249</a:t>
            </a:r>
            <a:endParaRPr lang="en-US" sz="1500" dirty="0"/>
          </a:p>
        </p:txBody>
      </p:sp>
      <p:sp>
        <p:nvSpPr>
          <p:cNvPr id="7" name="Text 5"/>
          <p:cNvSpPr txBox="1"/>
          <p:nvPr/>
        </p:nvSpPr>
        <p:spPr>
          <a:xfrm>
            <a:off x="411480" y="758952"/>
            <a:ext cx="6949440" cy="182880"/>
          </a:xfrm>
          <a:prstGeom prst="rect">
            <a:avLst/>
          </a:prstGeom>
          <a:noFill/>
          <a:ln/>
        </p:spPr>
        <p:txBody>
          <a:bodyPr wrap="square" lIns="0" tIns="0" rIns="0" bIns="0" rtlCol="0" anchor="t"/>
          <a:lstStyle/>
          <a:p>
            <a:pPr marL="0" indent="0">
              <a:buNone/>
            </a:pPr>
            <a:r>
              <a:rPr lang="en-US" sz="900" i="1" dirty="0">
                <a:solidFill>
                  <a:srgbClr val="595959"/>
                </a:solidFill>
                <a:latin typeface="Arial" pitchFamily="34" charset="0"/>
                <a:ea typeface="Arial" pitchFamily="34" charset="-122"/>
                <a:cs typeface="Arial" pitchFamily="34" charset="-120"/>
              </a:rPr>
              <a:t>We weight the DCF 60% and multiples 40%, giving a $249 target price</a:t>
            </a:r>
            <a:endParaRPr lang="en-US" sz="900" dirty="0"/>
          </a:p>
        </p:txBody>
      </p:sp>
      <p:sp>
        <p:nvSpPr>
          <p:cNvPr id="8" name="Text 6"/>
          <p:cNvSpPr txBox="1"/>
          <p:nvPr/>
        </p:nvSpPr>
        <p:spPr>
          <a:xfrm>
            <a:off x="411480" y="1051560"/>
            <a:ext cx="342900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Discounted cash flow (60% weight): $249</a:t>
            </a:r>
            <a:endParaRPr lang="en-US" sz="950" dirty="0"/>
          </a:p>
        </p:txBody>
      </p:sp>
      <p:sp>
        <p:nvSpPr>
          <p:cNvPr id="9" name="Text 7"/>
          <p:cNvSpPr txBox="1"/>
          <p:nvPr/>
        </p:nvSpPr>
        <p:spPr>
          <a:xfrm>
            <a:off x="411480" y="1252728"/>
            <a:ext cx="3429000" cy="2377440"/>
          </a:xfrm>
          <a:prstGeom prst="rect">
            <a:avLst/>
          </a:prstGeom>
          <a:noFill/>
          <a:ln/>
        </p:spPr>
        <p:txBody>
          <a:bodyPr wrap="square" lIns="0" tIns="0" rIns="0" bIns="0" rtlCol="0" anchor="t"/>
          <a:lstStyle/>
          <a:p>
            <a:pPr marL="0" indent="0">
              <a:spcAft>
                <a:spcPts val="350"/>
              </a:spcAft>
              <a:buNone/>
            </a:pPr>
            <a:r>
              <a:rPr lang="en-US" sz="760" dirty="0">
                <a:solidFill>
                  <a:srgbClr val="262626"/>
                </a:solidFill>
                <a:latin typeface="Arial" pitchFamily="34" charset="0"/>
                <a:ea typeface="Arial" pitchFamily="34" charset="-122"/>
                <a:cs typeface="Arial" pitchFamily="34" charset="-120"/>
              </a:rPr>
              <a:t>We discount unlevered free cash flow for H2-2026 to 2030 plus a terminal value from the 30 June 2026 balance sheet, with mid-year discounting. Restructuring is a cash cost and stock-based pay is not added back. Rent sits inside operating costs, so lease liabilities are not deducted again. The terminal year is normalised: margin 53%, capex at the 2027-30 average of 11.9% of revenue (NEXT support runs to 2036), growth 2.5%.</a:t>
            </a:r>
            <a:endParaRPr lang="en-US" sz="760" dirty="0"/>
          </a:p>
          <a:p>
            <a:pPr marL="0" indent="0">
              <a:spcAft>
                <a:spcPts val="350"/>
              </a:spcAft>
              <a:buNone/>
            </a:pPr>
            <a:r>
              <a:rPr lang="en-US" sz="760" b="1" dirty="0">
                <a:solidFill>
                  <a:srgbClr val="1F3864"/>
                </a:solidFill>
                <a:latin typeface="Arial" pitchFamily="34" charset="0"/>
                <a:ea typeface="Arial" pitchFamily="34" charset="-122"/>
                <a:cs typeface="Arial" pitchFamily="34" charset="-120"/>
              </a:rPr>
              <a:t>Beta. </a:t>
            </a:r>
            <a:r>
              <a:rPr lang="en-US" sz="760" dirty="0">
                <a:solidFill>
                  <a:srgbClr val="262626"/>
                </a:solidFill>
                <a:latin typeface="Arial" pitchFamily="34" charset="0"/>
                <a:ea typeface="Arial" pitchFamily="34" charset="-122"/>
                <a:cs typeface="Arial" pitchFamily="34" charset="-120"/>
              </a:rPr>
              <a:t>We use a 0.60 bottom-up beta from franchise-heavy peers (YUM, QSR, DPZ: at least 90% of restaurants franchised). Each peer's 5-year monthly beta is unlevered at its market debt-to-equity, excluding operating leases as in the DCF; the three are averaged (0.51) and relevered to McDonald's capital structure. McDonald's own adjusted beta is also 0.60. SBUX and CMG are a sensitivity only: their company-operated models carry more operating leverage, and all five peers imply ~0.80.</a:t>
            </a:r>
            <a:endParaRPr lang="en-US" sz="760" dirty="0"/>
          </a:p>
        </p:txBody>
      </p:sp>
      <p:sp>
        <p:nvSpPr>
          <p:cNvPr id="10" name="Text 8"/>
          <p:cNvSpPr txBox="1"/>
          <p:nvPr/>
        </p:nvSpPr>
        <p:spPr>
          <a:xfrm>
            <a:off x="411480" y="3657600"/>
            <a:ext cx="342900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8: WACC build</a:t>
            </a:r>
            <a:endParaRPr lang="en-US" sz="7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3822192"/>
          <a:ext cx="3429000" cy="1463040"/>
        </p:xfrm>
        <a:graphic>
          <a:graphicData uri="http://schemas.openxmlformats.org/drawingml/2006/table">
            <a:tbl>
              <a:tblPr/>
              <a:tblGrid>
                <a:gridCol w="26060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146304">
                <a:tc>
                  <a:txBody>
                    <a:bodyPr/>
                    <a:lstStyle/>
                    <a:p>
                      <a:pPr marL="0" indent="0" algn="l">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Value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Risk-free rate (10-year Treasury, 24-Sep-26 close)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5.18%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Equity risk premium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Beta: franchise-heavy bottom-up (0.51 unlevered x 1.18)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0.60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Cost of equity</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Cost of debt: pre-tax (UST + 90bp) / after 22% tax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6.1% / 4.7%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Debt / capital (market values, debt at fair value)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46304">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WACC</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7.56%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7"/>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Cross-check: MCD adjusted / raw beta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0.60 / 0.41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Sensitivity: beta 0.52 / 0.80 -&gt; WACC</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7.2% / 8.3%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2" name="Text 9"/>
          <p:cNvSpPr txBox="1"/>
          <p:nvPr/>
        </p:nvSpPr>
        <p:spPr>
          <a:xfrm>
            <a:off x="3977640" y="1051560"/>
            <a:ext cx="338328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9: DCF output (US$m)</a:t>
            </a:r>
            <a:endParaRPr lang="en-US" sz="7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3977640" y="1216152"/>
          <a:ext cx="3383280" cy="1463040"/>
        </p:xfrm>
        <a:graphic>
          <a:graphicData uri="http://schemas.openxmlformats.org/drawingml/2006/table">
            <a:tbl>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146304">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US$m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PV of free cash flow, H2-26 to FY30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39,562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PV of terminal value (g = 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174,526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Enterprise value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214,088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Terminal value as % of EV</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Less: net debt (fair value, 30-Jun-26)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(37,478)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Equity value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176,610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Diluted shares (m)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709.6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146304">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DCF value per share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$248.87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8"/>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Implied exit EV/EBITDA (MCD 13.6x; peers 15.4x)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12.2x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4" name="Text 10"/>
          <p:cNvSpPr txBox="1"/>
          <p:nvPr/>
        </p:nvSpPr>
        <p:spPr>
          <a:xfrm>
            <a:off x="3977640" y="2761488"/>
            <a:ext cx="338328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Unlevered free cash flow (US$bn)</a:t>
            </a:r>
            <a:endParaRPr lang="en-US" sz="7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3977640" y="2926080"/>
          <a:ext cx="3383280" cy="438912"/>
        </p:xfrm>
        <a:graphic>
          <a:graphicData uri="http://schemas.openxmlformats.org/drawingml/2006/table">
            <a:tbl>
              <a:tblPr/>
              <a:tblGrid>
                <a:gridCol w="64008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tblGrid>
              <a:tr h="146304">
                <a:tc>
                  <a:txBody>
                    <a:bodyPr/>
                    <a:lstStyle/>
                    <a:p>
                      <a:pPr marL="0" indent="0" algn="l">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FY26E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FY27E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FY28E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FY29E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FY30E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TV yr</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UFCF</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11.6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Growth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6.6%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6" name="Text 11"/>
          <p:cNvSpPr txBox="1"/>
          <p:nvPr/>
        </p:nvSpPr>
        <p:spPr>
          <a:xfrm>
            <a:off x="3977640" y="3383280"/>
            <a:ext cx="3383280" cy="27432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*Only the H2 half ($4.3bn) is counted. The normalised terminal year raises capex back to its 2027-30 average, so growth into it is 0.9% rather than 6.6%.</a:t>
            </a:r>
            <a:endParaRPr lang="en-US" sz="650" dirty="0"/>
          </a:p>
        </p:txBody>
      </p:sp>
      <p:sp>
        <p:nvSpPr>
          <p:cNvPr id="17" name="Text 12"/>
          <p:cNvSpPr txBox="1"/>
          <p:nvPr/>
        </p:nvSpPr>
        <p:spPr>
          <a:xfrm>
            <a:off x="411480" y="5376672"/>
            <a:ext cx="6949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Peer multiples (40% weight): $248 on franchise-heavy peers</a:t>
            </a:r>
            <a:endParaRPr lang="en-US" sz="950" dirty="0"/>
          </a:p>
        </p:txBody>
      </p:sp>
      <p:sp>
        <p:nvSpPr>
          <p:cNvPr id="18" name="Text 13"/>
          <p:cNvSpPr txBox="1"/>
          <p:nvPr/>
        </p:nvSpPr>
        <p:spPr>
          <a:xfrm>
            <a:off x="411480" y="5568696"/>
            <a:ext cx="6949440" cy="384048"/>
          </a:xfrm>
          <a:prstGeom prst="rect">
            <a:avLst/>
          </a:prstGeom>
          <a:noFill/>
          <a:ln/>
        </p:spPr>
        <p:txBody>
          <a:bodyPr wrap="square" lIns="0" tIns="0" rIns="0" bIns="0" rtlCol="0" anchor="t"/>
          <a:lstStyle/>
          <a:p>
            <a:pPr marL="0" indent="0">
              <a:spcAft>
                <a:spcPts val="350"/>
              </a:spcAft>
              <a:buNone/>
            </a:pPr>
            <a:r>
              <a:rPr lang="en-US" sz="760" dirty="0">
                <a:solidFill>
                  <a:srgbClr val="262626"/>
                </a:solidFill>
                <a:latin typeface="Arial" pitchFamily="34" charset="0"/>
                <a:ea typeface="Arial" pitchFamily="34" charset="-122"/>
                <a:cs typeface="Arial" pitchFamily="34" charset="-120"/>
              </a:rPr>
              <a:t>We compare MCD with five listed restaurant chains on forward P/E and trailing EV/EBITDA. Peer EVs exclude operating leases so they match EBITDA struck after rent, and each multiple is applied to the MCD metric of the same period. The target uses the three franchise-heavy peers; SBUX and CMG, company-operated growth names on 26-32x forward earnings, are shown as a memo.</a:t>
            </a:r>
            <a:endParaRPr lang="en-US" sz="760" dirty="0"/>
          </a:p>
        </p:txBody>
      </p:sp>
      <p:sp>
        <p:nvSpPr>
          <p:cNvPr id="19" name="Text 14"/>
          <p:cNvSpPr txBox="1"/>
          <p:nvPr/>
        </p:nvSpPr>
        <p:spPr>
          <a:xfrm>
            <a:off x="411480" y="5961888"/>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10: Peer group (all prices at the 24 Sep 2026 close)</a:t>
            </a:r>
            <a:endParaRPr lang="en-US" sz="750" dirty="0"/>
          </a:p>
        </p:txBody>
      </p:sp>
      <p:graphicFrame>
        <p:nvGraphicFramePr>
          <p:cNvPr id="20" name="Table 3"/>
          <p:cNvGraphicFramePr>
            <a:graphicFrameLocks noGrp="1"/>
          </p:cNvGraphicFramePr>
          <p:nvPr>
            <p:extLst>
              <p:ext uri="{D42A27DB-BD31-4B8C-83A1-F6EECF244321}">
                <p14:modId xmlns:p14="http://schemas.microsoft.com/office/powerpoint/2010/main" val="4264392801"/>
              </p:ext>
            </p:extLst>
          </p:nvPr>
        </p:nvGraphicFramePr>
        <p:xfrm>
          <a:off x="411480" y="6126480"/>
          <a:ext cx="6949440" cy="1275588"/>
        </p:xfrm>
        <a:graphic>
          <a:graphicData uri="http://schemas.openxmlformats.org/drawingml/2006/table">
            <a:tbl>
              <a:tblPr/>
              <a:tblGrid>
                <a:gridCol w="17830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141732">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Company</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Model</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Mkt cap ($bn)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Fwd P/E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EV/EBITDA*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Equity beta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Unlev. beta***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EPS growth**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Yum! Brands (YUM)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37.5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21.6x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16.1x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0.55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0.44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n.m.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Restaurant Brands (QSR)</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32.2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16.7x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15.4x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0.53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0.41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Domino's (DPZ)</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9.7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14.5x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14.1x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0.69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Starbucks (SBUX)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Company-op.</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106.7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31.9x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20.7x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n.m.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Chipotle (CMG)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Company-op.</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40.5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25.6x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17.8x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1732">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Franchise-heavy median (beta: mean)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l">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16.7x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15.4x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0.68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0.51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All-peer median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37.5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21.6x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16.1x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0.79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0.68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141732">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McDonald's at $237.02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Franchised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168.2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17.8x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13.6x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0.41 raw / 0.60 adj.</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0.35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1" name="Text 15"/>
          <p:cNvSpPr txBox="1"/>
          <p:nvPr/>
        </p:nvSpPr>
        <p:spPr>
          <a:xfrm>
            <a:off x="411480" y="7409784"/>
            <a:ext cx="6949440" cy="27432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*LTM, lease-adjusted (EV excludes operating lease liabilities). **Trailing / forward P/E - 1; n.m. for YUM (tax-flattered trailing EPS) and SBUX (restructuring-depressed). ***Raw beta unlevered at market D/E excl. leases, for MCD as for peers (from MCD's adjusted beta: 0.51); the WACC uses 0.60, a relevered equity beta. Source: Stock Analysis / S&amp;P Global MI (24-Sep closes), 10-Qs, our calculations.</a:t>
            </a:r>
            <a:endParaRPr lang="en-US" sz="650" dirty="0"/>
          </a:p>
        </p:txBody>
      </p:sp>
      <p:sp>
        <p:nvSpPr>
          <p:cNvPr id="22" name="Text 16"/>
          <p:cNvSpPr txBox="1"/>
          <p:nvPr/>
        </p:nvSpPr>
        <p:spPr>
          <a:xfrm>
            <a:off x="411480" y="7717536"/>
            <a:ext cx="434340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11: Implied value per share, franchise-heavy peers</a:t>
            </a:r>
            <a:endParaRPr lang="en-US" sz="750" dirty="0"/>
          </a:p>
        </p:txBody>
      </p:sp>
      <p:graphicFrame>
        <p:nvGraphicFramePr>
          <p:cNvPr id="23" name="Table 4"/>
          <p:cNvGraphicFramePr>
            <a:graphicFrameLocks noGrp="1"/>
          </p:cNvGraphicFramePr>
          <p:nvPr>
            <p:extLst>
              <p:ext uri="{D42A27DB-BD31-4B8C-83A1-F6EECF244321}">
                <p14:modId xmlns:p14="http://schemas.microsoft.com/office/powerpoint/2010/main" val="1579011935"/>
              </p:ext>
            </p:extLst>
          </p:nvPr>
        </p:nvGraphicFramePr>
        <p:xfrm>
          <a:off x="411480" y="7872984"/>
          <a:ext cx="4389120" cy="708660"/>
        </p:xfrm>
        <a:graphic>
          <a:graphicData uri="http://schemas.openxmlformats.org/drawingml/2006/table">
            <a:tbl>
              <a:tblPr/>
              <a:tblGrid>
                <a:gridCol w="1600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141732">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Method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Multiple (min/med/max)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MCD metric</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Value (min/med/max)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Forward P/E x NTM EPS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14.5x / 16.7x / 21.6x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$13.35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$193 / $223 / $288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EV/EBITDA x LTM EBITDA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14.1x / 15.4x / 16.1x</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$15.1bn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$246 / $273 / $289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1732">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Comps value (50/50)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$220 / $248 / $288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Memo: all five peers (quartiles)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$248 / $288 / $334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4" name="Text 17"/>
          <p:cNvSpPr txBox="1"/>
          <p:nvPr/>
        </p:nvSpPr>
        <p:spPr>
          <a:xfrm>
            <a:off x="4892040" y="7717536"/>
            <a:ext cx="2468880" cy="932688"/>
          </a:xfrm>
          <a:prstGeom prst="rect">
            <a:avLst/>
          </a:prstGeom>
          <a:noFill/>
          <a:ln/>
        </p:spPr>
        <p:txBody>
          <a:bodyPr wrap="square" lIns="0" tIns="0" rIns="0" bIns="0" rtlCol="0" anchor="t"/>
          <a:lstStyle/>
          <a:p>
            <a:pPr marL="0" indent="0">
              <a:spcAft>
                <a:spcPts val="200"/>
              </a:spcAft>
              <a:buNone/>
            </a:pPr>
            <a:r>
              <a:rPr lang="en-US" sz="670" b="1" dirty="0">
                <a:solidFill>
                  <a:srgbClr val="1F3864"/>
                </a:solidFill>
                <a:latin typeface="Arial" pitchFamily="34" charset="0"/>
                <a:ea typeface="Arial" pitchFamily="34" charset="-122"/>
                <a:cs typeface="Arial" pitchFamily="34" charset="-120"/>
              </a:rPr>
              <a:t>Why franchise-heavy peers. </a:t>
            </a:r>
            <a:r>
              <a:rPr lang="en-US" sz="670" dirty="0">
                <a:solidFill>
                  <a:srgbClr val="262626"/>
                </a:solidFill>
                <a:latin typeface="Arial" pitchFamily="34" charset="0"/>
                <a:ea typeface="Arial" pitchFamily="34" charset="-122"/>
                <a:cs typeface="Arial" pitchFamily="34" charset="-120"/>
              </a:rPr>
              <a:t>They share McDonald's rent-and-royalty economics, yet QSR and DPZ imply ~14-15% EPS growth vs ~7% for MCD: a generous yardstick.</a:t>
            </a:r>
            <a:endParaRPr lang="en-US" sz="670" dirty="0"/>
          </a:p>
          <a:p>
            <a:pPr marL="0" indent="0">
              <a:spcAft>
                <a:spcPts val="200"/>
              </a:spcAft>
              <a:buNone/>
            </a:pPr>
            <a:r>
              <a:rPr lang="en-US" sz="670" b="1" dirty="0">
                <a:solidFill>
                  <a:srgbClr val="1F3864"/>
                </a:solidFill>
                <a:latin typeface="Arial" pitchFamily="34" charset="0"/>
                <a:ea typeface="Arial" pitchFamily="34" charset="-122"/>
                <a:cs typeface="Arial" pitchFamily="34" charset="-120"/>
              </a:rPr>
              <a:t>Why 50/50. </a:t>
            </a:r>
            <a:r>
              <a:rPr lang="en-US" sz="670" dirty="0">
                <a:solidFill>
                  <a:srgbClr val="262626"/>
                </a:solidFill>
                <a:latin typeface="Arial" pitchFamily="34" charset="0"/>
                <a:ea typeface="Arial" pitchFamily="34" charset="-122"/>
                <a:cs typeface="Arial" pitchFamily="34" charset="-120"/>
              </a:rPr>
              <a:t>EV/EBITDA neutralises the peers' higher leverage but flatters MCD, whose owned real estate means heavier D&amp;A; P/E captures D&amp;A, interest and tax but carries the peers' leverage. The biases offset, so each gets half (P/E alone: $239 target; EV/EBITDA alone: $259).</a:t>
            </a:r>
            <a:endParaRPr lang="en-US" sz="670" dirty="0"/>
          </a:p>
        </p:txBody>
      </p:sp>
      <p:sp>
        <p:nvSpPr>
          <p:cNvPr id="25" name="Shape 18"/>
          <p:cNvSpPr/>
          <p:nvPr/>
        </p:nvSpPr>
        <p:spPr>
          <a:xfrm>
            <a:off x="411480" y="8659368"/>
            <a:ext cx="1645920" cy="548640"/>
          </a:xfrm>
          <a:prstGeom prst="rect">
            <a:avLst/>
          </a:prstGeom>
          <a:solidFill>
            <a:srgbClr val="F2F5FA"/>
          </a:solidFill>
          <a:ln w="12700">
            <a:solidFill>
              <a:srgbClr val="F2F5FA"/>
            </a:solidFill>
            <a:prstDash val="solid"/>
          </a:ln>
        </p:spPr>
        <p:txBody>
          <a:bodyPr/>
          <a:lstStyle/>
          <a:p>
            <a:endParaRPr lang="LID4096"/>
          </a:p>
        </p:txBody>
      </p:sp>
      <p:sp>
        <p:nvSpPr>
          <p:cNvPr id="26" name="Text 19"/>
          <p:cNvSpPr txBox="1"/>
          <p:nvPr/>
        </p:nvSpPr>
        <p:spPr>
          <a:xfrm>
            <a:off x="484632" y="8695944"/>
            <a:ext cx="1508760" cy="128016"/>
          </a:xfrm>
          <a:prstGeom prst="rect">
            <a:avLst/>
          </a:prstGeom>
          <a:noFill/>
          <a:ln/>
        </p:spPr>
        <p:txBody>
          <a:bodyPr wrap="square" lIns="0" tIns="0" rIns="0" bIns="0" rtlCol="0" anchor="t"/>
          <a:lstStyle/>
          <a:p>
            <a:pPr marL="0" indent="0">
              <a:buNone/>
            </a:pPr>
            <a:r>
              <a:rPr lang="en-US" sz="650" b="1" dirty="0">
                <a:solidFill>
                  <a:srgbClr val="595959"/>
                </a:solidFill>
                <a:latin typeface="Arial" pitchFamily="34" charset="0"/>
                <a:ea typeface="Arial" pitchFamily="34" charset="-122"/>
                <a:cs typeface="Arial" pitchFamily="34" charset="-120"/>
              </a:rPr>
              <a:t>DCF VALUE</a:t>
            </a:r>
            <a:endParaRPr lang="en-US" sz="650" dirty="0"/>
          </a:p>
        </p:txBody>
      </p:sp>
      <p:sp>
        <p:nvSpPr>
          <p:cNvPr id="27" name="Text 20"/>
          <p:cNvSpPr txBox="1"/>
          <p:nvPr/>
        </p:nvSpPr>
        <p:spPr>
          <a:xfrm>
            <a:off x="484632" y="8814816"/>
            <a:ext cx="1508760" cy="237744"/>
          </a:xfrm>
          <a:prstGeom prst="rect">
            <a:avLst/>
          </a:prstGeom>
          <a:noFill/>
          <a:ln/>
        </p:spPr>
        <p:txBody>
          <a:bodyPr wrap="square" lIns="0" tIns="0" rIns="0" bIns="0" rtlCol="0" anchor="t"/>
          <a:lstStyle/>
          <a:p>
            <a:pPr marL="0" indent="0">
              <a:buNone/>
            </a:pPr>
            <a:r>
              <a:rPr lang="en-US" sz="1300" b="1" dirty="0">
                <a:solidFill>
                  <a:srgbClr val="1F3864"/>
                </a:solidFill>
                <a:latin typeface="Arial" pitchFamily="34" charset="0"/>
                <a:ea typeface="Arial" pitchFamily="34" charset="-122"/>
                <a:cs typeface="Arial" pitchFamily="34" charset="-120"/>
              </a:rPr>
              <a:t>$248.87</a:t>
            </a:r>
            <a:endParaRPr lang="en-US" sz="1300" dirty="0"/>
          </a:p>
        </p:txBody>
      </p:sp>
      <p:sp>
        <p:nvSpPr>
          <p:cNvPr id="28" name="Text 21"/>
          <p:cNvSpPr txBox="1"/>
          <p:nvPr/>
        </p:nvSpPr>
        <p:spPr>
          <a:xfrm>
            <a:off x="484632" y="9052560"/>
            <a:ext cx="1508760" cy="128016"/>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x 60%</a:t>
            </a:r>
            <a:endParaRPr lang="en-US" sz="650" dirty="0"/>
          </a:p>
        </p:txBody>
      </p:sp>
      <p:sp>
        <p:nvSpPr>
          <p:cNvPr id="29" name="Shape 22"/>
          <p:cNvSpPr/>
          <p:nvPr/>
        </p:nvSpPr>
        <p:spPr>
          <a:xfrm>
            <a:off x="2176272" y="8659368"/>
            <a:ext cx="1645920" cy="548640"/>
          </a:xfrm>
          <a:prstGeom prst="rect">
            <a:avLst/>
          </a:prstGeom>
          <a:solidFill>
            <a:srgbClr val="F2F5FA"/>
          </a:solidFill>
          <a:ln w="12700">
            <a:solidFill>
              <a:srgbClr val="F2F5FA"/>
            </a:solidFill>
            <a:prstDash val="solid"/>
          </a:ln>
        </p:spPr>
        <p:txBody>
          <a:bodyPr/>
          <a:lstStyle/>
          <a:p>
            <a:endParaRPr lang="LID4096"/>
          </a:p>
        </p:txBody>
      </p:sp>
      <p:sp>
        <p:nvSpPr>
          <p:cNvPr id="30" name="Text 23"/>
          <p:cNvSpPr txBox="1"/>
          <p:nvPr/>
        </p:nvSpPr>
        <p:spPr>
          <a:xfrm>
            <a:off x="2249424" y="8695944"/>
            <a:ext cx="1508760" cy="128016"/>
          </a:xfrm>
          <a:prstGeom prst="rect">
            <a:avLst/>
          </a:prstGeom>
          <a:noFill/>
          <a:ln/>
        </p:spPr>
        <p:txBody>
          <a:bodyPr wrap="square" lIns="0" tIns="0" rIns="0" bIns="0" rtlCol="0" anchor="t"/>
          <a:lstStyle/>
          <a:p>
            <a:pPr marL="0" indent="0">
              <a:buNone/>
            </a:pPr>
            <a:r>
              <a:rPr lang="en-US" sz="650" b="1" dirty="0">
                <a:solidFill>
                  <a:srgbClr val="595959"/>
                </a:solidFill>
                <a:latin typeface="Arial" pitchFamily="34" charset="0"/>
                <a:ea typeface="Arial" pitchFamily="34" charset="-122"/>
                <a:cs typeface="Arial" pitchFamily="34" charset="-120"/>
              </a:rPr>
              <a:t>COMPS VALUE</a:t>
            </a:r>
            <a:endParaRPr lang="en-US" sz="650" dirty="0"/>
          </a:p>
        </p:txBody>
      </p:sp>
      <p:sp>
        <p:nvSpPr>
          <p:cNvPr id="31" name="Text 24"/>
          <p:cNvSpPr txBox="1"/>
          <p:nvPr/>
        </p:nvSpPr>
        <p:spPr>
          <a:xfrm>
            <a:off x="2249424" y="8814816"/>
            <a:ext cx="1508760" cy="237744"/>
          </a:xfrm>
          <a:prstGeom prst="rect">
            <a:avLst/>
          </a:prstGeom>
          <a:noFill/>
          <a:ln/>
        </p:spPr>
        <p:txBody>
          <a:bodyPr wrap="square" lIns="0" tIns="0" rIns="0" bIns="0" rtlCol="0" anchor="t"/>
          <a:lstStyle/>
          <a:p>
            <a:pPr marL="0" indent="0">
              <a:buNone/>
            </a:pPr>
            <a:r>
              <a:rPr lang="en-US" sz="1300" b="1" dirty="0">
                <a:solidFill>
                  <a:srgbClr val="1F3864"/>
                </a:solidFill>
                <a:latin typeface="Arial" pitchFamily="34" charset="0"/>
                <a:ea typeface="Arial" pitchFamily="34" charset="-122"/>
                <a:cs typeface="Arial" pitchFamily="34" charset="-120"/>
              </a:rPr>
              <a:t>$248.14</a:t>
            </a:r>
            <a:endParaRPr lang="en-US" sz="1300" dirty="0"/>
          </a:p>
        </p:txBody>
      </p:sp>
      <p:sp>
        <p:nvSpPr>
          <p:cNvPr id="32" name="Text 25"/>
          <p:cNvSpPr txBox="1"/>
          <p:nvPr/>
        </p:nvSpPr>
        <p:spPr>
          <a:xfrm>
            <a:off x="2249424" y="9052560"/>
            <a:ext cx="1508760" cy="128016"/>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x 40%</a:t>
            </a:r>
            <a:endParaRPr lang="en-US" sz="650" dirty="0"/>
          </a:p>
        </p:txBody>
      </p:sp>
      <p:sp>
        <p:nvSpPr>
          <p:cNvPr id="33" name="Shape 26"/>
          <p:cNvSpPr/>
          <p:nvPr/>
        </p:nvSpPr>
        <p:spPr>
          <a:xfrm>
            <a:off x="3941064" y="8659368"/>
            <a:ext cx="1645920" cy="548640"/>
          </a:xfrm>
          <a:prstGeom prst="rect">
            <a:avLst/>
          </a:prstGeom>
          <a:solidFill>
            <a:srgbClr val="1F3864"/>
          </a:solidFill>
          <a:ln w="12700">
            <a:solidFill>
              <a:srgbClr val="1F3864"/>
            </a:solidFill>
            <a:prstDash val="solid"/>
          </a:ln>
        </p:spPr>
        <p:txBody>
          <a:bodyPr/>
          <a:lstStyle/>
          <a:p>
            <a:endParaRPr lang="LID4096"/>
          </a:p>
        </p:txBody>
      </p:sp>
      <p:sp>
        <p:nvSpPr>
          <p:cNvPr id="34" name="Text 27"/>
          <p:cNvSpPr txBox="1"/>
          <p:nvPr/>
        </p:nvSpPr>
        <p:spPr>
          <a:xfrm>
            <a:off x="4014216" y="8695944"/>
            <a:ext cx="1508760" cy="128016"/>
          </a:xfrm>
          <a:prstGeom prst="rect">
            <a:avLst/>
          </a:prstGeom>
          <a:noFill/>
          <a:ln/>
        </p:spPr>
        <p:txBody>
          <a:bodyPr wrap="square" lIns="0" tIns="0" rIns="0" bIns="0" rtlCol="0" anchor="t"/>
          <a:lstStyle/>
          <a:p>
            <a:pPr marL="0" indent="0">
              <a:buNone/>
            </a:pPr>
            <a:r>
              <a:rPr lang="en-US" sz="650" b="1" dirty="0">
                <a:solidFill>
                  <a:srgbClr val="D9E1F2"/>
                </a:solidFill>
                <a:latin typeface="Arial" pitchFamily="34" charset="0"/>
                <a:ea typeface="Arial" pitchFamily="34" charset="-122"/>
                <a:cs typeface="Arial" pitchFamily="34" charset="-120"/>
              </a:rPr>
              <a:t>TARGET PRICE</a:t>
            </a:r>
            <a:endParaRPr lang="en-US" sz="650" dirty="0"/>
          </a:p>
        </p:txBody>
      </p:sp>
      <p:sp>
        <p:nvSpPr>
          <p:cNvPr id="35" name="Text 28"/>
          <p:cNvSpPr txBox="1"/>
          <p:nvPr/>
        </p:nvSpPr>
        <p:spPr>
          <a:xfrm>
            <a:off x="4014216" y="8814816"/>
            <a:ext cx="1508760" cy="237744"/>
          </a:xfrm>
          <a:prstGeom prst="rect">
            <a:avLst/>
          </a:prstGeom>
          <a:noFill/>
          <a:ln/>
        </p:spPr>
        <p:txBody>
          <a:bodyPr wrap="square" lIns="0" tIns="0" rIns="0" bIns="0" rtlCol="0" anchor="t"/>
          <a:lstStyle/>
          <a:p>
            <a:pPr marL="0" indent="0">
              <a:buNone/>
            </a:pPr>
            <a:r>
              <a:rPr lang="en-US" sz="1300" b="1" dirty="0">
                <a:solidFill>
                  <a:srgbClr val="FFFFFF"/>
                </a:solidFill>
                <a:latin typeface="Arial" pitchFamily="34" charset="0"/>
                <a:ea typeface="Arial" pitchFamily="34" charset="-122"/>
                <a:cs typeface="Arial" pitchFamily="34" charset="-120"/>
              </a:rPr>
              <a:t>$248.58</a:t>
            </a:r>
            <a:endParaRPr lang="en-US" sz="1300" dirty="0"/>
          </a:p>
        </p:txBody>
      </p:sp>
      <p:sp>
        <p:nvSpPr>
          <p:cNvPr id="36" name="Text 29"/>
          <p:cNvSpPr txBox="1"/>
          <p:nvPr/>
        </p:nvSpPr>
        <p:spPr>
          <a:xfrm>
            <a:off x="4014216" y="9052560"/>
            <a:ext cx="1508760" cy="128016"/>
          </a:xfrm>
          <a:prstGeom prst="rect">
            <a:avLst/>
          </a:prstGeom>
          <a:noFill/>
          <a:ln/>
        </p:spPr>
        <p:txBody>
          <a:bodyPr wrap="square" lIns="0" tIns="0" rIns="0" bIns="0" rtlCol="0" anchor="t"/>
          <a:lstStyle/>
          <a:p>
            <a:pPr marL="0" indent="0">
              <a:buNone/>
            </a:pPr>
            <a:r>
              <a:rPr lang="en-US" sz="650" dirty="0">
                <a:solidFill>
                  <a:srgbClr val="D9E1F2"/>
                </a:solidFill>
                <a:latin typeface="Arial" pitchFamily="34" charset="0"/>
                <a:ea typeface="Arial" pitchFamily="34" charset="-122"/>
                <a:cs typeface="Arial" pitchFamily="34" charset="-120"/>
              </a:rPr>
              <a:t>+4.9% upside</a:t>
            </a:r>
            <a:endParaRPr lang="en-US" sz="650" dirty="0"/>
          </a:p>
        </p:txBody>
      </p:sp>
      <p:sp>
        <p:nvSpPr>
          <p:cNvPr id="37" name="Shape 30"/>
          <p:cNvSpPr/>
          <p:nvPr/>
        </p:nvSpPr>
        <p:spPr>
          <a:xfrm>
            <a:off x="5705856" y="8659368"/>
            <a:ext cx="1645920" cy="548640"/>
          </a:xfrm>
          <a:prstGeom prst="rect">
            <a:avLst/>
          </a:prstGeom>
          <a:solidFill>
            <a:srgbClr val="1F3864"/>
          </a:solidFill>
          <a:ln w="12700">
            <a:solidFill>
              <a:srgbClr val="1F3864"/>
            </a:solidFill>
            <a:prstDash val="solid"/>
          </a:ln>
        </p:spPr>
        <p:txBody>
          <a:bodyPr/>
          <a:lstStyle/>
          <a:p>
            <a:endParaRPr lang="LID4096"/>
          </a:p>
        </p:txBody>
      </p:sp>
      <p:sp>
        <p:nvSpPr>
          <p:cNvPr id="38" name="Text 31"/>
          <p:cNvSpPr txBox="1"/>
          <p:nvPr/>
        </p:nvSpPr>
        <p:spPr>
          <a:xfrm>
            <a:off x="5779008" y="8695944"/>
            <a:ext cx="1508760" cy="128016"/>
          </a:xfrm>
          <a:prstGeom prst="rect">
            <a:avLst/>
          </a:prstGeom>
          <a:noFill/>
          <a:ln/>
        </p:spPr>
        <p:txBody>
          <a:bodyPr wrap="square" lIns="0" tIns="0" rIns="0" bIns="0" rtlCol="0" anchor="t"/>
          <a:lstStyle/>
          <a:p>
            <a:pPr marL="0" indent="0">
              <a:buNone/>
            </a:pPr>
            <a:r>
              <a:rPr lang="en-US" sz="650" b="1" dirty="0">
                <a:solidFill>
                  <a:srgbClr val="D9E1F2"/>
                </a:solidFill>
                <a:latin typeface="Arial" pitchFamily="34" charset="0"/>
                <a:ea typeface="Arial" pitchFamily="34" charset="-122"/>
                <a:cs typeface="Arial" pitchFamily="34" charset="-120"/>
              </a:rPr>
              <a:t>TOTAL RETURN</a:t>
            </a:r>
            <a:endParaRPr lang="en-US" sz="650" dirty="0"/>
          </a:p>
        </p:txBody>
      </p:sp>
      <p:sp>
        <p:nvSpPr>
          <p:cNvPr id="39" name="Text 32"/>
          <p:cNvSpPr txBox="1"/>
          <p:nvPr/>
        </p:nvSpPr>
        <p:spPr>
          <a:xfrm>
            <a:off x="5779008" y="8814816"/>
            <a:ext cx="1508760" cy="237744"/>
          </a:xfrm>
          <a:prstGeom prst="rect">
            <a:avLst/>
          </a:prstGeom>
          <a:noFill/>
          <a:ln/>
        </p:spPr>
        <p:txBody>
          <a:bodyPr wrap="square" lIns="0" tIns="0" rIns="0" bIns="0" rtlCol="0" anchor="t"/>
          <a:lstStyle/>
          <a:p>
            <a:pPr marL="0" indent="0">
              <a:buNone/>
            </a:pPr>
            <a:r>
              <a:rPr lang="en-US" sz="1300" b="1" dirty="0">
                <a:solidFill>
                  <a:srgbClr val="FFFFFF"/>
                </a:solidFill>
                <a:latin typeface="Arial" pitchFamily="34" charset="0"/>
                <a:ea typeface="Arial" pitchFamily="34" charset="-122"/>
                <a:cs typeface="Arial" pitchFamily="34" charset="-120"/>
              </a:rPr>
              <a:t>+8.1%</a:t>
            </a:r>
            <a:endParaRPr lang="en-US" sz="1300" dirty="0"/>
          </a:p>
        </p:txBody>
      </p:sp>
      <p:sp>
        <p:nvSpPr>
          <p:cNvPr id="40" name="Text 33"/>
          <p:cNvSpPr txBox="1"/>
          <p:nvPr/>
        </p:nvSpPr>
        <p:spPr>
          <a:xfrm>
            <a:off x="5779008" y="9052560"/>
            <a:ext cx="1508760" cy="128016"/>
          </a:xfrm>
          <a:prstGeom prst="rect">
            <a:avLst/>
          </a:prstGeom>
          <a:noFill/>
          <a:ln/>
        </p:spPr>
        <p:txBody>
          <a:bodyPr wrap="square" lIns="0" tIns="0" rIns="0" bIns="0" rtlCol="0" anchor="t"/>
          <a:lstStyle/>
          <a:p>
            <a:pPr marL="0" indent="0">
              <a:buNone/>
            </a:pPr>
            <a:r>
              <a:rPr lang="en-US" sz="650" dirty="0">
                <a:solidFill>
                  <a:srgbClr val="D9E1F2"/>
                </a:solidFill>
                <a:latin typeface="Arial" pitchFamily="34" charset="0"/>
                <a:ea typeface="Arial" pitchFamily="34" charset="-122"/>
                <a:cs typeface="Arial" pitchFamily="34" charset="-120"/>
              </a:rPr>
              <a:t>incl. 3.3% dividend yield</a:t>
            </a:r>
            <a:endParaRPr lang="en-US" sz="650" dirty="0"/>
          </a:p>
        </p:txBody>
      </p:sp>
      <p:sp>
        <p:nvSpPr>
          <p:cNvPr id="41" name="Text 34"/>
          <p:cNvSpPr txBox="1"/>
          <p:nvPr/>
        </p:nvSpPr>
        <p:spPr>
          <a:xfrm>
            <a:off x="411480" y="9262872"/>
            <a:ext cx="6949440" cy="411480"/>
          </a:xfrm>
          <a:prstGeom prst="rect">
            <a:avLst/>
          </a:prstGeom>
          <a:noFill/>
          <a:ln/>
        </p:spPr>
        <p:txBody>
          <a:bodyPr wrap="square" lIns="0" tIns="0" rIns="0" bIns="0" rtlCol="0" anchor="t"/>
          <a:lstStyle/>
          <a:p>
            <a:pPr marL="0" indent="0">
              <a:spcAft>
                <a:spcPts val="350"/>
              </a:spcAft>
              <a:buNone/>
            </a:pPr>
            <a:r>
              <a:rPr lang="en-US" sz="720" b="1" dirty="0">
                <a:solidFill>
                  <a:srgbClr val="1F3864"/>
                </a:solidFill>
                <a:latin typeface="Arial" pitchFamily="34" charset="0"/>
                <a:ea typeface="Arial" pitchFamily="34" charset="-122"/>
                <a:cs typeface="Arial" pitchFamily="34" charset="-120"/>
              </a:rPr>
              <a:t>Rating logic. </a:t>
            </a:r>
            <a:r>
              <a:rPr lang="en-US" sz="720" dirty="0">
                <a:solidFill>
                  <a:srgbClr val="262626"/>
                </a:solidFill>
                <a:latin typeface="Arial" pitchFamily="34" charset="0"/>
                <a:ea typeface="Arial" pitchFamily="34" charset="-122"/>
                <a:cs typeface="Arial" pitchFamily="34" charset="-120"/>
              </a:rPr>
              <a:t>The 8.1% expected total return sits inside our Hold band (Buy needs 10% or more). The two methods agree within 1%, but a ~5% gap between target and price is within the margin of error of any valuation. We would move to Buy on evidence that U.S. traffic is stabilising, not on valuation alone.</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28600"/>
            <a:ext cx="4937760" cy="164592"/>
          </a:xfrm>
          <a:prstGeom prst="rect">
            <a:avLst/>
          </a:prstGeom>
          <a:noFill/>
          <a:ln/>
        </p:spPr>
        <p:txBody>
          <a:bodyPr wrap="square" lIns="0" tIns="0" rIns="0" bIns="0" rtlCol="0" anchor="t"/>
          <a:lstStyle/>
          <a:p>
            <a:pPr marL="0" indent="0">
              <a:buNone/>
            </a:pPr>
            <a:r>
              <a:rPr lang="en-US" sz="700" b="1" dirty="0">
                <a:solidFill>
                  <a:srgbClr val="595959"/>
                </a:solidFill>
                <a:latin typeface="Arial" pitchFamily="34" charset="0"/>
                <a:ea typeface="Arial" pitchFamily="34" charset="-122"/>
                <a:cs typeface="Arial" pitchFamily="34" charset="-120"/>
              </a:rPr>
              <a:t>McDONALD'S CORPORATION (NYSE: MCD)  |  EQUITY RESEARCH  |  US RESTAURANTS</a:t>
            </a:r>
            <a:endParaRPr lang="en-US" sz="700" dirty="0"/>
          </a:p>
        </p:txBody>
      </p:sp>
      <p:sp>
        <p:nvSpPr>
          <p:cNvPr id="3" name="Text 1"/>
          <p:cNvSpPr txBox="1"/>
          <p:nvPr/>
        </p:nvSpPr>
        <p:spPr>
          <a:xfrm>
            <a:off x="5074920" y="228600"/>
            <a:ext cx="2286000" cy="164592"/>
          </a:xfrm>
          <a:prstGeom prst="rect">
            <a:avLst/>
          </a:prstGeom>
          <a:noFill/>
          <a:ln/>
        </p:spPr>
        <p:txBody>
          <a:bodyPr wrap="square" lIns="0" tIns="0" rIns="0" bIns="0" rtlCol="0" anchor="t"/>
          <a:lstStyle/>
          <a:p>
            <a:pPr marL="0" indent="0" algn="r">
              <a:buNone/>
            </a:pPr>
            <a:r>
              <a:rPr lang="en-US" sz="700" dirty="0">
                <a:solidFill>
                  <a:srgbClr val="595959"/>
                </a:solidFill>
                <a:latin typeface="Arial" pitchFamily="34" charset="0"/>
                <a:ea typeface="Arial" pitchFamily="34" charset="-122"/>
                <a:cs typeface="Arial" pitchFamily="34" charset="-120"/>
              </a:rPr>
              <a:t>25 September 2026 (revised 26 September)</a:t>
            </a:r>
            <a:endParaRPr lang="en-US" sz="700" dirty="0"/>
          </a:p>
        </p:txBody>
      </p:sp>
      <p:sp>
        <p:nvSpPr>
          <p:cNvPr id="4" name="Text 2"/>
          <p:cNvSpPr txBox="1"/>
          <p:nvPr/>
        </p:nvSpPr>
        <p:spPr>
          <a:xfrm>
            <a:off x="411480" y="9710928"/>
            <a:ext cx="4572000" cy="146304"/>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Student project, not investment advice. See disclaimer on page 6.</a:t>
            </a:r>
            <a:endParaRPr lang="en-US" sz="650" dirty="0"/>
          </a:p>
        </p:txBody>
      </p:sp>
      <p:sp>
        <p:nvSpPr>
          <p:cNvPr id="5" name="Text 3"/>
          <p:cNvSpPr txBox="1"/>
          <p:nvPr/>
        </p:nvSpPr>
        <p:spPr>
          <a:xfrm>
            <a:off x="5989320" y="9710928"/>
            <a:ext cx="1371600" cy="146304"/>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Page 5 of 6</a:t>
            </a:r>
            <a:endParaRPr lang="en-US" sz="650" dirty="0"/>
          </a:p>
        </p:txBody>
      </p:sp>
      <p:sp>
        <p:nvSpPr>
          <p:cNvPr id="6" name="Text 4"/>
          <p:cNvSpPr txBox="1"/>
          <p:nvPr/>
        </p:nvSpPr>
        <p:spPr>
          <a:xfrm>
            <a:off x="411480" y="457200"/>
            <a:ext cx="6949440" cy="292608"/>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Valuation ranges and sensitivities</a:t>
            </a:r>
            <a:endParaRPr lang="en-US" sz="1500" dirty="0"/>
          </a:p>
        </p:txBody>
      </p:sp>
      <p:sp>
        <p:nvSpPr>
          <p:cNvPr id="7" name="Text 5"/>
          <p:cNvSpPr txBox="1"/>
          <p:nvPr/>
        </p:nvSpPr>
        <p:spPr>
          <a:xfrm>
            <a:off x="411480" y="758952"/>
            <a:ext cx="6949440" cy="182880"/>
          </a:xfrm>
          <a:prstGeom prst="rect">
            <a:avLst/>
          </a:prstGeom>
          <a:noFill/>
          <a:ln/>
        </p:spPr>
        <p:txBody>
          <a:bodyPr wrap="square" lIns="0" tIns="0" rIns="0" bIns="0" rtlCol="0" anchor="t"/>
          <a:lstStyle/>
          <a:p>
            <a:pPr marL="0" indent="0">
              <a:buNone/>
            </a:pPr>
            <a:r>
              <a:rPr lang="en-US" sz="900" i="1" dirty="0">
                <a:solidFill>
                  <a:srgbClr val="595959"/>
                </a:solidFill>
                <a:latin typeface="Arial" pitchFamily="34" charset="0"/>
                <a:ea typeface="Arial" pitchFamily="34" charset="-122"/>
                <a:cs typeface="Arial" pitchFamily="34" charset="-120"/>
              </a:rPr>
              <a:t>The base case sits below our Buy threshold; the beta choice moves the target most</a:t>
            </a:r>
            <a:endParaRPr lang="en-US" sz="900" dirty="0"/>
          </a:p>
        </p:txBody>
      </p:sp>
      <p:sp>
        <p:nvSpPr>
          <p:cNvPr id="8" name="Text 6"/>
          <p:cNvSpPr txBox="1"/>
          <p:nvPr/>
        </p:nvSpPr>
        <p:spPr>
          <a:xfrm>
            <a:off x="411480" y="105156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12: Valuation football field, US$ per share</a:t>
            </a:r>
            <a:endParaRPr lang="en-US" sz="750" dirty="0"/>
          </a:p>
        </p:txBody>
      </p:sp>
      <p:sp>
        <p:nvSpPr>
          <p:cNvPr id="9" name="Shape 7"/>
          <p:cNvSpPr/>
          <p:nvPr/>
        </p:nvSpPr>
        <p:spPr>
          <a:xfrm>
            <a:off x="3420932" y="1261872"/>
            <a:ext cx="0" cy="1993392"/>
          </a:xfrm>
          <a:prstGeom prst="line">
            <a:avLst/>
          </a:prstGeom>
          <a:noFill/>
          <a:ln w="6350">
            <a:solidFill>
              <a:srgbClr val="E7E6E6"/>
            </a:solidFill>
            <a:prstDash val="solid"/>
          </a:ln>
        </p:spPr>
        <p:txBody>
          <a:bodyPr/>
          <a:lstStyle/>
          <a:p>
            <a:endParaRPr lang="LID4096"/>
          </a:p>
        </p:txBody>
      </p:sp>
      <p:sp>
        <p:nvSpPr>
          <p:cNvPr id="10" name="Text 8"/>
          <p:cNvSpPr txBox="1"/>
          <p:nvPr/>
        </p:nvSpPr>
        <p:spPr>
          <a:xfrm>
            <a:off x="3192332" y="3273552"/>
            <a:ext cx="457200" cy="128016"/>
          </a:xfrm>
          <a:prstGeom prst="rect">
            <a:avLst/>
          </a:prstGeom>
          <a:noFill/>
          <a:ln/>
        </p:spPr>
        <p:txBody>
          <a:bodyPr wrap="square" lIns="0" tIns="0" rIns="0" bIns="0" rtlCol="0" anchor="t"/>
          <a:lstStyle/>
          <a:p>
            <a:pPr marL="0" indent="0" algn="ctr">
              <a:buNone/>
            </a:pPr>
            <a:r>
              <a:rPr lang="en-US" sz="650" dirty="0">
                <a:solidFill>
                  <a:srgbClr val="595959"/>
                </a:solidFill>
                <a:latin typeface="Arial" pitchFamily="34" charset="0"/>
                <a:ea typeface="Arial" pitchFamily="34" charset="-122"/>
                <a:cs typeface="Arial" pitchFamily="34" charset="-120"/>
              </a:rPr>
              <a:t>$200</a:t>
            </a:r>
            <a:endParaRPr lang="en-US" sz="650" dirty="0"/>
          </a:p>
        </p:txBody>
      </p:sp>
      <p:sp>
        <p:nvSpPr>
          <p:cNvPr id="11" name="Shape 9"/>
          <p:cNvSpPr/>
          <p:nvPr/>
        </p:nvSpPr>
        <p:spPr>
          <a:xfrm>
            <a:off x="4658061" y="1261872"/>
            <a:ext cx="0" cy="1993392"/>
          </a:xfrm>
          <a:prstGeom prst="line">
            <a:avLst/>
          </a:prstGeom>
          <a:noFill/>
          <a:ln w="6350">
            <a:solidFill>
              <a:srgbClr val="E7E6E6"/>
            </a:solidFill>
            <a:prstDash val="solid"/>
          </a:ln>
        </p:spPr>
        <p:txBody>
          <a:bodyPr/>
          <a:lstStyle/>
          <a:p>
            <a:endParaRPr lang="LID4096"/>
          </a:p>
        </p:txBody>
      </p:sp>
      <p:sp>
        <p:nvSpPr>
          <p:cNvPr id="12" name="Text 10"/>
          <p:cNvSpPr txBox="1"/>
          <p:nvPr/>
        </p:nvSpPr>
        <p:spPr>
          <a:xfrm>
            <a:off x="4429461" y="3273552"/>
            <a:ext cx="457200" cy="128016"/>
          </a:xfrm>
          <a:prstGeom prst="rect">
            <a:avLst/>
          </a:prstGeom>
          <a:noFill/>
          <a:ln/>
        </p:spPr>
        <p:txBody>
          <a:bodyPr wrap="square" lIns="0" tIns="0" rIns="0" bIns="0" rtlCol="0" anchor="t"/>
          <a:lstStyle/>
          <a:p>
            <a:pPr marL="0" indent="0" algn="ctr">
              <a:buNone/>
            </a:pPr>
            <a:r>
              <a:rPr lang="en-US" sz="650" dirty="0">
                <a:solidFill>
                  <a:srgbClr val="595959"/>
                </a:solidFill>
                <a:latin typeface="Arial" pitchFamily="34" charset="0"/>
                <a:ea typeface="Arial" pitchFamily="34" charset="-122"/>
                <a:cs typeface="Arial" pitchFamily="34" charset="-120"/>
              </a:rPr>
              <a:t>$250</a:t>
            </a:r>
            <a:endParaRPr lang="en-US" sz="650" dirty="0"/>
          </a:p>
        </p:txBody>
      </p:sp>
      <p:sp>
        <p:nvSpPr>
          <p:cNvPr id="13" name="Shape 11"/>
          <p:cNvSpPr/>
          <p:nvPr/>
        </p:nvSpPr>
        <p:spPr>
          <a:xfrm>
            <a:off x="5895191" y="1261872"/>
            <a:ext cx="0" cy="1993392"/>
          </a:xfrm>
          <a:prstGeom prst="line">
            <a:avLst/>
          </a:prstGeom>
          <a:noFill/>
          <a:ln w="6350">
            <a:solidFill>
              <a:srgbClr val="E7E6E6"/>
            </a:solidFill>
            <a:prstDash val="solid"/>
          </a:ln>
        </p:spPr>
        <p:txBody>
          <a:bodyPr/>
          <a:lstStyle/>
          <a:p>
            <a:endParaRPr lang="LID4096"/>
          </a:p>
        </p:txBody>
      </p:sp>
      <p:sp>
        <p:nvSpPr>
          <p:cNvPr id="14" name="Text 12"/>
          <p:cNvSpPr txBox="1"/>
          <p:nvPr/>
        </p:nvSpPr>
        <p:spPr>
          <a:xfrm>
            <a:off x="5666591" y="3273552"/>
            <a:ext cx="457200" cy="128016"/>
          </a:xfrm>
          <a:prstGeom prst="rect">
            <a:avLst/>
          </a:prstGeom>
          <a:noFill/>
          <a:ln/>
        </p:spPr>
        <p:txBody>
          <a:bodyPr wrap="square" lIns="0" tIns="0" rIns="0" bIns="0" rtlCol="0" anchor="t"/>
          <a:lstStyle/>
          <a:p>
            <a:pPr marL="0" indent="0" algn="ctr">
              <a:buNone/>
            </a:pPr>
            <a:r>
              <a:rPr lang="en-US" sz="650" dirty="0">
                <a:solidFill>
                  <a:srgbClr val="595959"/>
                </a:solidFill>
                <a:latin typeface="Arial" pitchFamily="34" charset="0"/>
                <a:ea typeface="Arial" pitchFamily="34" charset="-122"/>
                <a:cs typeface="Arial" pitchFamily="34" charset="-120"/>
              </a:rPr>
              <a:t>$300</a:t>
            </a:r>
            <a:endParaRPr lang="en-US" sz="650" dirty="0"/>
          </a:p>
        </p:txBody>
      </p:sp>
      <p:sp>
        <p:nvSpPr>
          <p:cNvPr id="15" name="Shape 13"/>
          <p:cNvSpPr/>
          <p:nvPr/>
        </p:nvSpPr>
        <p:spPr>
          <a:xfrm>
            <a:off x="7132320" y="1261872"/>
            <a:ext cx="0" cy="1993392"/>
          </a:xfrm>
          <a:prstGeom prst="line">
            <a:avLst/>
          </a:prstGeom>
          <a:noFill/>
          <a:ln w="6350">
            <a:solidFill>
              <a:srgbClr val="E7E6E6"/>
            </a:solidFill>
            <a:prstDash val="solid"/>
          </a:ln>
        </p:spPr>
        <p:txBody>
          <a:bodyPr/>
          <a:lstStyle/>
          <a:p>
            <a:endParaRPr lang="LID4096"/>
          </a:p>
        </p:txBody>
      </p:sp>
      <p:sp>
        <p:nvSpPr>
          <p:cNvPr id="16" name="Text 14"/>
          <p:cNvSpPr txBox="1"/>
          <p:nvPr/>
        </p:nvSpPr>
        <p:spPr>
          <a:xfrm>
            <a:off x="6903720" y="3273552"/>
            <a:ext cx="457200" cy="128016"/>
          </a:xfrm>
          <a:prstGeom prst="rect">
            <a:avLst/>
          </a:prstGeom>
          <a:noFill/>
          <a:ln/>
        </p:spPr>
        <p:txBody>
          <a:bodyPr wrap="square" lIns="0" tIns="0" rIns="0" bIns="0" rtlCol="0" anchor="t"/>
          <a:lstStyle/>
          <a:p>
            <a:pPr marL="0" indent="0" algn="ctr">
              <a:buNone/>
            </a:pPr>
            <a:r>
              <a:rPr lang="en-US" sz="650" dirty="0">
                <a:solidFill>
                  <a:srgbClr val="595959"/>
                </a:solidFill>
                <a:latin typeface="Arial" pitchFamily="34" charset="0"/>
                <a:ea typeface="Arial" pitchFamily="34" charset="-122"/>
                <a:cs typeface="Arial" pitchFamily="34" charset="-120"/>
              </a:rPr>
              <a:t>$350</a:t>
            </a:r>
            <a:endParaRPr lang="en-US" sz="650" dirty="0"/>
          </a:p>
        </p:txBody>
      </p:sp>
      <p:sp>
        <p:nvSpPr>
          <p:cNvPr id="17" name="Text 15"/>
          <p:cNvSpPr txBox="1"/>
          <p:nvPr/>
        </p:nvSpPr>
        <p:spPr>
          <a:xfrm>
            <a:off x="411480" y="1325880"/>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DCF (WACC 7.1-8.1%, g 2.0-3.0%)</a:t>
            </a:r>
            <a:endParaRPr lang="en-US" sz="700" dirty="0"/>
          </a:p>
        </p:txBody>
      </p:sp>
      <p:sp>
        <p:nvSpPr>
          <p:cNvPr id="18" name="Shape 16"/>
          <p:cNvSpPr/>
          <p:nvPr/>
        </p:nvSpPr>
        <p:spPr>
          <a:xfrm>
            <a:off x="3495160" y="1325880"/>
            <a:ext cx="2820655" cy="155448"/>
          </a:xfrm>
          <a:prstGeom prst="rect">
            <a:avLst/>
          </a:prstGeom>
          <a:solidFill>
            <a:srgbClr val="1F3864"/>
          </a:solidFill>
          <a:ln w="12700">
            <a:solidFill>
              <a:srgbClr val="1F3864"/>
            </a:solidFill>
            <a:prstDash val="solid"/>
          </a:ln>
        </p:spPr>
        <p:txBody>
          <a:bodyPr/>
          <a:lstStyle/>
          <a:p>
            <a:endParaRPr lang="LID4096"/>
          </a:p>
        </p:txBody>
      </p:sp>
      <p:sp>
        <p:nvSpPr>
          <p:cNvPr id="19" name="Shape 17"/>
          <p:cNvSpPr/>
          <p:nvPr/>
        </p:nvSpPr>
        <p:spPr>
          <a:xfrm>
            <a:off x="4619603" y="1307592"/>
            <a:ext cx="27432" cy="192024"/>
          </a:xfrm>
          <a:prstGeom prst="rect">
            <a:avLst/>
          </a:prstGeom>
          <a:solidFill>
            <a:srgbClr val="C9A227"/>
          </a:solidFill>
          <a:ln w="12700">
            <a:solidFill>
              <a:srgbClr val="C9A227"/>
            </a:solidFill>
            <a:prstDash val="solid"/>
          </a:ln>
        </p:spPr>
        <p:txBody>
          <a:bodyPr/>
          <a:lstStyle/>
          <a:p>
            <a:endParaRPr lang="LID4096"/>
          </a:p>
        </p:txBody>
      </p:sp>
      <p:sp>
        <p:nvSpPr>
          <p:cNvPr id="20" name="Text 18"/>
          <p:cNvSpPr txBox="1"/>
          <p:nvPr/>
        </p:nvSpPr>
        <p:spPr>
          <a:xfrm>
            <a:off x="3111112" y="1335024"/>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$203</a:t>
            </a:r>
            <a:endParaRPr lang="en-US" sz="650" dirty="0"/>
          </a:p>
        </p:txBody>
      </p:sp>
      <p:sp>
        <p:nvSpPr>
          <p:cNvPr id="21" name="Text 19"/>
          <p:cNvSpPr txBox="1"/>
          <p:nvPr/>
        </p:nvSpPr>
        <p:spPr>
          <a:xfrm>
            <a:off x="6352391" y="1335024"/>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$317</a:t>
            </a:r>
            <a:endParaRPr lang="en-US" sz="650" dirty="0"/>
          </a:p>
        </p:txBody>
      </p:sp>
      <p:sp>
        <p:nvSpPr>
          <p:cNvPr id="22" name="Text 20"/>
          <p:cNvSpPr txBox="1"/>
          <p:nvPr/>
        </p:nvSpPr>
        <p:spPr>
          <a:xfrm>
            <a:off x="411480" y="1572768"/>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Comps: forward P/E, franchise-heavy (min-max)</a:t>
            </a:r>
            <a:endParaRPr lang="en-US" sz="700" dirty="0"/>
          </a:p>
        </p:txBody>
      </p:sp>
      <p:sp>
        <p:nvSpPr>
          <p:cNvPr id="23" name="Shape 21"/>
          <p:cNvSpPr/>
          <p:nvPr/>
        </p:nvSpPr>
        <p:spPr>
          <a:xfrm>
            <a:off x="3247734" y="1572768"/>
            <a:ext cx="2350546" cy="155448"/>
          </a:xfrm>
          <a:prstGeom prst="rect">
            <a:avLst/>
          </a:prstGeom>
          <a:solidFill>
            <a:srgbClr val="1F3864"/>
          </a:solidFill>
          <a:ln w="12700">
            <a:solidFill>
              <a:srgbClr val="1F3864"/>
            </a:solidFill>
            <a:prstDash val="solid"/>
          </a:ln>
        </p:spPr>
        <p:txBody>
          <a:bodyPr/>
          <a:lstStyle/>
          <a:p>
            <a:endParaRPr lang="LID4096"/>
          </a:p>
        </p:txBody>
      </p:sp>
      <p:sp>
        <p:nvSpPr>
          <p:cNvPr id="24" name="Shape 22"/>
          <p:cNvSpPr/>
          <p:nvPr/>
        </p:nvSpPr>
        <p:spPr>
          <a:xfrm>
            <a:off x="3976295" y="1554480"/>
            <a:ext cx="27432" cy="192024"/>
          </a:xfrm>
          <a:prstGeom prst="rect">
            <a:avLst/>
          </a:prstGeom>
          <a:solidFill>
            <a:srgbClr val="C9A227"/>
          </a:solidFill>
          <a:ln w="12700">
            <a:solidFill>
              <a:srgbClr val="C9A227"/>
            </a:solidFill>
            <a:prstDash val="solid"/>
          </a:ln>
        </p:spPr>
        <p:txBody>
          <a:bodyPr/>
          <a:lstStyle/>
          <a:p>
            <a:endParaRPr lang="LID4096"/>
          </a:p>
        </p:txBody>
      </p:sp>
      <p:sp>
        <p:nvSpPr>
          <p:cNvPr id="25" name="Text 23"/>
          <p:cNvSpPr txBox="1"/>
          <p:nvPr/>
        </p:nvSpPr>
        <p:spPr>
          <a:xfrm>
            <a:off x="2863686" y="1581912"/>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$193</a:t>
            </a:r>
            <a:endParaRPr lang="en-US" sz="650" dirty="0"/>
          </a:p>
        </p:txBody>
      </p:sp>
      <p:sp>
        <p:nvSpPr>
          <p:cNvPr id="26" name="Text 24"/>
          <p:cNvSpPr txBox="1"/>
          <p:nvPr/>
        </p:nvSpPr>
        <p:spPr>
          <a:xfrm>
            <a:off x="5634856" y="1581912"/>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$288</a:t>
            </a:r>
            <a:endParaRPr lang="en-US" sz="650" dirty="0"/>
          </a:p>
        </p:txBody>
      </p:sp>
      <p:sp>
        <p:nvSpPr>
          <p:cNvPr id="27" name="Text 25"/>
          <p:cNvSpPr txBox="1"/>
          <p:nvPr/>
        </p:nvSpPr>
        <p:spPr>
          <a:xfrm>
            <a:off x="411480" y="1819656"/>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Comps: EV/EBITDA, franchise-heavy (min-max)</a:t>
            </a:r>
            <a:endParaRPr lang="en-US" sz="700" dirty="0"/>
          </a:p>
        </p:txBody>
      </p:sp>
      <p:sp>
        <p:nvSpPr>
          <p:cNvPr id="28" name="Shape 26"/>
          <p:cNvSpPr/>
          <p:nvPr/>
        </p:nvSpPr>
        <p:spPr>
          <a:xfrm>
            <a:off x="4559091" y="1819656"/>
            <a:ext cx="1063931" cy="155448"/>
          </a:xfrm>
          <a:prstGeom prst="rect">
            <a:avLst/>
          </a:prstGeom>
          <a:solidFill>
            <a:srgbClr val="1F3864"/>
          </a:solidFill>
          <a:ln w="12700">
            <a:solidFill>
              <a:srgbClr val="1F3864"/>
            </a:solidFill>
            <a:prstDash val="solid"/>
          </a:ln>
        </p:spPr>
        <p:txBody>
          <a:bodyPr/>
          <a:lstStyle/>
          <a:p>
            <a:endParaRPr lang="LID4096"/>
          </a:p>
        </p:txBody>
      </p:sp>
      <p:sp>
        <p:nvSpPr>
          <p:cNvPr id="29" name="Shape 27"/>
          <p:cNvSpPr/>
          <p:nvPr/>
        </p:nvSpPr>
        <p:spPr>
          <a:xfrm>
            <a:off x="5213425" y="1801368"/>
            <a:ext cx="27432" cy="192024"/>
          </a:xfrm>
          <a:prstGeom prst="rect">
            <a:avLst/>
          </a:prstGeom>
          <a:solidFill>
            <a:srgbClr val="C9A227"/>
          </a:solidFill>
          <a:ln w="12700">
            <a:solidFill>
              <a:srgbClr val="C9A227"/>
            </a:solidFill>
            <a:prstDash val="solid"/>
          </a:ln>
        </p:spPr>
        <p:txBody>
          <a:bodyPr/>
          <a:lstStyle/>
          <a:p>
            <a:endParaRPr lang="LID4096"/>
          </a:p>
        </p:txBody>
      </p:sp>
      <p:sp>
        <p:nvSpPr>
          <p:cNvPr id="30" name="Text 28"/>
          <p:cNvSpPr txBox="1"/>
          <p:nvPr/>
        </p:nvSpPr>
        <p:spPr>
          <a:xfrm>
            <a:off x="4175043" y="1828800"/>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$246</a:t>
            </a:r>
            <a:endParaRPr lang="en-US" sz="650" dirty="0"/>
          </a:p>
        </p:txBody>
      </p:sp>
      <p:sp>
        <p:nvSpPr>
          <p:cNvPr id="31" name="Text 29"/>
          <p:cNvSpPr txBox="1"/>
          <p:nvPr/>
        </p:nvSpPr>
        <p:spPr>
          <a:xfrm>
            <a:off x="5659598" y="1828800"/>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$289</a:t>
            </a:r>
            <a:endParaRPr lang="en-US" sz="650" dirty="0"/>
          </a:p>
        </p:txBody>
      </p:sp>
      <p:sp>
        <p:nvSpPr>
          <p:cNvPr id="32" name="Text 30"/>
          <p:cNvSpPr txBox="1"/>
          <p:nvPr/>
        </p:nvSpPr>
        <p:spPr>
          <a:xfrm>
            <a:off x="411480" y="2066544"/>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Scenarios, bear to bull (blended target)</a:t>
            </a:r>
            <a:endParaRPr lang="en-US" sz="700" dirty="0"/>
          </a:p>
        </p:txBody>
      </p:sp>
      <p:sp>
        <p:nvSpPr>
          <p:cNvPr id="33" name="Shape 31"/>
          <p:cNvSpPr/>
          <p:nvPr/>
        </p:nvSpPr>
        <p:spPr>
          <a:xfrm>
            <a:off x="3990011" y="2066544"/>
            <a:ext cx="940218" cy="155448"/>
          </a:xfrm>
          <a:prstGeom prst="rect">
            <a:avLst/>
          </a:prstGeom>
          <a:solidFill>
            <a:srgbClr val="1F3864"/>
          </a:solidFill>
          <a:ln w="12700">
            <a:solidFill>
              <a:srgbClr val="1F3864"/>
            </a:solidFill>
            <a:prstDash val="solid"/>
          </a:ln>
        </p:spPr>
        <p:txBody>
          <a:bodyPr/>
          <a:lstStyle/>
          <a:p>
            <a:endParaRPr lang="LID4096"/>
          </a:p>
        </p:txBody>
      </p:sp>
      <p:sp>
        <p:nvSpPr>
          <p:cNvPr id="34" name="Shape 32"/>
          <p:cNvSpPr/>
          <p:nvPr/>
        </p:nvSpPr>
        <p:spPr>
          <a:xfrm>
            <a:off x="4619603" y="2048256"/>
            <a:ext cx="27432" cy="192024"/>
          </a:xfrm>
          <a:prstGeom prst="rect">
            <a:avLst/>
          </a:prstGeom>
          <a:solidFill>
            <a:srgbClr val="C9A227"/>
          </a:solidFill>
          <a:ln w="12700">
            <a:solidFill>
              <a:srgbClr val="C9A227"/>
            </a:solidFill>
            <a:prstDash val="solid"/>
          </a:ln>
        </p:spPr>
        <p:txBody>
          <a:bodyPr/>
          <a:lstStyle/>
          <a:p>
            <a:endParaRPr lang="LID4096"/>
          </a:p>
        </p:txBody>
      </p:sp>
      <p:sp>
        <p:nvSpPr>
          <p:cNvPr id="35" name="Text 33"/>
          <p:cNvSpPr txBox="1"/>
          <p:nvPr/>
        </p:nvSpPr>
        <p:spPr>
          <a:xfrm>
            <a:off x="3605963" y="2075688"/>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$223</a:t>
            </a:r>
            <a:endParaRPr lang="en-US" sz="650" dirty="0"/>
          </a:p>
        </p:txBody>
      </p:sp>
      <p:sp>
        <p:nvSpPr>
          <p:cNvPr id="36" name="Text 34"/>
          <p:cNvSpPr txBox="1"/>
          <p:nvPr/>
        </p:nvSpPr>
        <p:spPr>
          <a:xfrm>
            <a:off x="4966806" y="2075688"/>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$261</a:t>
            </a:r>
            <a:endParaRPr lang="en-US" sz="650" dirty="0"/>
          </a:p>
        </p:txBody>
      </p:sp>
      <p:sp>
        <p:nvSpPr>
          <p:cNvPr id="37" name="Text 35"/>
          <p:cNvSpPr txBox="1"/>
          <p:nvPr/>
        </p:nvSpPr>
        <p:spPr>
          <a:xfrm>
            <a:off x="411480" y="2313432"/>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Beta 0.52 to 0.80 (blended target)</a:t>
            </a:r>
            <a:endParaRPr lang="en-US" sz="700" dirty="0"/>
          </a:p>
        </p:txBody>
      </p:sp>
      <p:sp>
        <p:nvSpPr>
          <p:cNvPr id="38" name="Shape 36"/>
          <p:cNvSpPr/>
          <p:nvPr/>
        </p:nvSpPr>
        <p:spPr>
          <a:xfrm>
            <a:off x="4039496" y="2313432"/>
            <a:ext cx="890733" cy="155448"/>
          </a:xfrm>
          <a:prstGeom prst="rect">
            <a:avLst/>
          </a:prstGeom>
          <a:solidFill>
            <a:srgbClr val="1F3864"/>
          </a:solidFill>
          <a:ln w="12700">
            <a:solidFill>
              <a:srgbClr val="1F3864"/>
            </a:solidFill>
            <a:prstDash val="solid"/>
          </a:ln>
        </p:spPr>
        <p:txBody>
          <a:bodyPr/>
          <a:lstStyle/>
          <a:p>
            <a:endParaRPr lang="LID4096"/>
          </a:p>
        </p:txBody>
      </p:sp>
      <p:sp>
        <p:nvSpPr>
          <p:cNvPr id="39" name="Shape 37"/>
          <p:cNvSpPr/>
          <p:nvPr/>
        </p:nvSpPr>
        <p:spPr>
          <a:xfrm>
            <a:off x="4619603" y="2295144"/>
            <a:ext cx="27432" cy="192024"/>
          </a:xfrm>
          <a:prstGeom prst="rect">
            <a:avLst/>
          </a:prstGeom>
          <a:solidFill>
            <a:srgbClr val="C9A227"/>
          </a:solidFill>
          <a:ln w="12700">
            <a:solidFill>
              <a:srgbClr val="C9A227"/>
            </a:solidFill>
            <a:prstDash val="solid"/>
          </a:ln>
        </p:spPr>
        <p:txBody>
          <a:bodyPr/>
          <a:lstStyle/>
          <a:p>
            <a:endParaRPr lang="LID4096"/>
          </a:p>
        </p:txBody>
      </p:sp>
      <p:sp>
        <p:nvSpPr>
          <p:cNvPr id="40" name="Text 38"/>
          <p:cNvSpPr txBox="1"/>
          <p:nvPr/>
        </p:nvSpPr>
        <p:spPr>
          <a:xfrm>
            <a:off x="3655448" y="2322576"/>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$225</a:t>
            </a:r>
            <a:endParaRPr lang="en-US" sz="650" dirty="0"/>
          </a:p>
        </p:txBody>
      </p:sp>
      <p:sp>
        <p:nvSpPr>
          <p:cNvPr id="41" name="Text 39"/>
          <p:cNvSpPr txBox="1"/>
          <p:nvPr/>
        </p:nvSpPr>
        <p:spPr>
          <a:xfrm>
            <a:off x="4966806" y="2322576"/>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$261</a:t>
            </a:r>
            <a:endParaRPr lang="en-US" sz="650" dirty="0"/>
          </a:p>
        </p:txBody>
      </p:sp>
      <p:sp>
        <p:nvSpPr>
          <p:cNvPr id="42" name="Text 40"/>
          <p:cNvSpPr txBox="1"/>
          <p:nvPr/>
        </p:nvSpPr>
        <p:spPr>
          <a:xfrm>
            <a:off x="411480" y="2560320"/>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Memo: comps, all five peers (25th-75th)</a:t>
            </a:r>
            <a:endParaRPr lang="en-US" sz="700" dirty="0"/>
          </a:p>
        </p:txBody>
      </p:sp>
      <p:sp>
        <p:nvSpPr>
          <p:cNvPr id="43" name="Shape 41"/>
          <p:cNvSpPr/>
          <p:nvPr/>
        </p:nvSpPr>
        <p:spPr>
          <a:xfrm>
            <a:off x="4608576" y="2560320"/>
            <a:ext cx="2127863" cy="155448"/>
          </a:xfrm>
          <a:prstGeom prst="rect">
            <a:avLst/>
          </a:prstGeom>
          <a:solidFill>
            <a:srgbClr val="BFC9DA"/>
          </a:solidFill>
          <a:ln w="12700">
            <a:solidFill>
              <a:srgbClr val="BFC9DA"/>
            </a:solidFill>
            <a:prstDash val="solid"/>
          </a:ln>
        </p:spPr>
        <p:txBody>
          <a:bodyPr/>
          <a:lstStyle/>
          <a:p>
            <a:endParaRPr lang="LID4096"/>
          </a:p>
        </p:txBody>
      </p:sp>
      <p:sp>
        <p:nvSpPr>
          <p:cNvPr id="44" name="Shape 42"/>
          <p:cNvSpPr/>
          <p:nvPr/>
        </p:nvSpPr>
        <p:spPr>
          <a:xfrm>
            <a:off x="5584564" y="2542032"/>
            <a:ext cx="27432" cy="192024"/>
          </a:xfrm>
          <a:prstGeom prst="rect">
            <a:avLst/>
          </a:prstGeom>
          <a:solidFill>
            <a:srgbClr val="C9A227"/>
          </a:solidFill>
          <a:ln w="12700">
            <a:solidFill>
              <a:srgbClr val="C9A227"/>
            </a:solidFill>
            <a:prstDash val="solid"/>
          </a:ln>
        </p:spPr>
        <p:txBody>
          <a:bodyPr/>
          <a:lstStyle/>
          <a:p>
            <a:endParaRPr lang="LID4096"/>
          </a:p>
        </p:txBody>
      </p:sp>
      <p:sp>
        <p:nvSpPr>
          <p:cNvPr id="45" name="Text 43"/>
          <p:cNvSpPr txBox="1"/>
          <p:nvPr/>
        </p:nvSpPr>
        <p:spPr>
          <a:xfrm>
            <a:off x="4224528" y="2569464"/>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$248</a:t>
            </a:r>
            <a:endParaRPr lang="en-US" sz="650" dirty="0"/>
          </a:p>
        </p:txBody>
      </p:sp>
      <p:sp>
        <p:nvSpPr>
          <p:cNvPr id="46" name="Text 44"/>
          <p:cNvSpPr txBox="1"/>
          <p:nvPr/>
        </p:nvSpPr>
        <p:spPr>
          <a:xfrm>
            <a:off x="6773015" y="2569464"/>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$334</a:t>
            </a:r>
            <a:endParaRPr lang="en-US" sz="650" dirty="0"/>
          </a:p>
        </p:txBody>
      </p:sp>
      <p:sp>
        <p:nvSpPr>
          <p:cNvPr id="47" name="Text 45"/>
          <p:cNvSpPr txBox="1"/>
          <p:nvPr/>
        </p:nvSpPr>
        <p:spPr>
          <a:xfrm>
            <a:off x="411480" y="2807208"/>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52-week share price range</a:t>
            </a:r>
            <a:endParaRPr lang="en-US" sz="700" dirty="0"/>
          </a:p>
        </p:txBody>
      </p:sp>
      <p:sp>
        <p:nvSpPr>
          <p:cNvPr id="48" name="Shape 46"/>
          <p:cNvSpPr/>
          <p:nvPr/>
        </p:nvSpPr>
        <p:spPr>
          <a:xfrm>
            <a:off x="4262180" y="2807208"/>
            <a:ext cx="2672200" cy="155448"/>
          </a:xfrm>
          <a:prstGeom prst="rect">
            <a:avLst/>
          </a:prstGeom>
          <a:solidFill>
            <a:srgbClr val="BFC9DA"/>
          </a:solidFill>
          <a:ln w="12700">
            <a:solidFill>
              <a:srgbClr val="BFC9DA"/>
            </a:solidFill>
            <a:prstDash val="solid"/>
          </a:ln>
        </p:spPr>
        <p:txBody>
          <a:bodyPr/>
          <a:lstStyle/>
          <a:p>
            <a:endParaRPr lang="LID4096"/>
          </a:p>
        </p:txBody>
      </p:sp>
      <p:sp>
        <p:nvSpPr>
          <p:cNvPr id="49" name="Text 47"/>
          <p:cNvSpPr txBox="1"/>
          <p:nvPr/>
        </p:nvSpPr>
        <p:spPr>
          <a:xfrm>
            <a:off x="3878132" y="2816352"/>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$234</a:t>
            </a:r>
            <a:endParaRPr lang="en-US" sz="650" dirty="0"/>
          </a:p>
        </p:txBody>
      </p:sp>
      <p:sp>
        <p:nvSpPr>
          <p:cNvPr id="50" name="Text 48"/>
          <p:cNvSpPr txBox="1"/>
          <p:nvPr/>
        </p:nvSpPr>
        <p:spPr>
          <a:xfrm>
            <a:off x="6970955" y="2816352"/>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$342</a:t>
            </a:r>
            <a:endParaRPr lang="en-US" sz="650" dirty="0"/>
          </a:p>
        </p:txBody>
      </p:sp>
      <p:sp>
        <p:nvSpPr>
          <p:cNvPr id="51" name="Text 49"/>
          <p:cNvSpPr txBox="1"/>
          <p:nvPr/>
        </p:nvSpPr>
        <p:spPr>
          <a:xfrm>
            <a:off x="411480" y="3054096"/>
            <a:ext cx="2468880" cy="146304"/>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Broker targets after Investor Day (6 brokers)</a:t>
            </a:r>
            <a:endParaRPr lang="en-US" sz="700" dirty="0"/>
          </a:p>
        </p:txBody>
      </p:sp>
      <p:sp>
        <p:nvSpPr>
          <p:cNvPr id="52" name="Shape 50"/>
          <p:cNvSpPr/>
          <p:nvPr/>
        </p:nvSpPr>
        <p:spPr>
          <a:xfrm>
            <a:off x="4658061" y="3054096"/>
            <a:ext cx="1237129" cy="155448"/>
          </a:xfrm>
          <a:prstGeom prst="rect">
            <a:avLst/>
          </a:prstGeom>
          <a:solidFill>
            <a:srgbClr val="BFC9DA"/>
          </a:solidFill>
          <a:ln w="12700">
            <a:solidFill>
              <a:srgbClr val="BFC9DA"/>
            </a:solidFill>
            <a:prstDash val="solid"/>
          </a:ln>
        </p:spPr>
        <p:txBody>
          <a:bodyPr/>
          <a:lstStyle/>
          <a:p>
            <a:endParaRPr lang="LID4096"/>
          </a:p>
        </p:txBody>
      </p:sp>
      <p:sp>
        <p:nvSpPr>
          <p:cNvPr id="53" name="Text 51"/>
          <p:cNvSpPr txBox="1"/>
          <p:nvPr/>
        </p:nvSpPr>
        <p:spPr>
          <a:xfrm>
            <a:off x="4274013" y="3063240"/>
            <a:ext cx="347472" cy="137160"/>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$250</a:t>
            </a:r>
            <a:endParaRPr lang="en-US" sz="650" dirty="0"/>
          </a:p>
        </p:txBody>
      </p:sp>
      <p:sp>
        <p:nvSpPr>
          <p:cNvPr id="54" name="Text 52"/>
          <p:cNvSpPr txBox="1"/>
          <p:nvPr/>
        </p:nvSpPr>
        <p:spPr>
          <a:xfrm>
            <a:off x="5931767" y="3063240"/>
            <a:ext cx="347472"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$300</a:t>
            </a:r>
            <a:endParaRPr lang="en-US" sz="650" dirty="0"/>
          </a:p>
        </p:txBody>
      </p:sp>
      <p:sp>
        <p:nvSpPr>
          <p:cNvPr id="55" name="Shape 53"/>
          <p:cNvSpPr/>
          <p:nvPr/>
        </p:nvSpPr>
        <p:spPr>
          <a:xfrm>
            <a:off x="4336902" y="1188720"/>
            <a:ext cx="0" cy="2066544"/>
          </a:xfrm>
          <a:prstGeom prst="line">
            <a:avLst/>
          </a:prstGeom>
          <a:noFill/>
          <a:ln w="12700">
            <a:solidFill>
              <a:srgbClr val="C00000"/>
            </a:solidFill>
            <a:prstDash val="dash"/>
          </a:ln>
        </p:spPr>
        <p:txBody>
          <a:bodyPr/>
          <a:lstStyle/>
          <a:p>
            <a:endParaRPr lang="LID4096"/>
          </a:p>
        </p:txBody>
      </p:sp>
      <p:sp>
        <p:nvSpPr>
          <p:cNvPr id="56" name="Text 54"/>
          <p:cNvSpPr txBox="1"/>
          <p:nvPr/>
        </p:nvSpPr>
        <p:spPr>
          <a:xfrm>
            <a:off x="3669390" y="1097280"/>
            <a:ext cx="640080" cy="118872"/>
          </a:xfrm>
          <a:prstGeom prst="rect">
            <a:avLst/>
          </a:prstGeom>
          <a:noFill/>
          <a:ln/>
        </p:spPr>
        <p:txBody>
          <a:bodyPr wrap="square" lIns="0" tIns="0" rIns="0" bIns="0" rtlCol="0" anchor="t"/>
          <a:lstStyle/>
          <a:p>
            <a:pPr marL="0" indent="0" algn="r">
              <a:buNone/>
            </a:pPr>
            <a:r>
              <a:rPr lang="en-US" sz="650" b="1" dirty="0">
                <a:solidFill>
                  <a:srgbClr val="C00000"/>
                </a:solidFill>
                <a:latin typeface="Arial" pitchFamily="34" charset="0"/>
                <a:ea typeface="Arial" pitchFamily="34" charset="-122"/>
                <a:cs typeface="Arial" pitchFamily="34" charset="-120"/>
              </a:rPr>
              <a:t>Price $237</a:t>
            </a:r>
            <a:endParaRPr lang="en-US" sz="650" dirty="0"/>
          </a:p>
        </p:txBody>
      </p:sp>
      <p:sp>
        <p:nvSpPr>
          <p:cNvPr id="57" name="Shape 55"/>
          <p:cNvSpPr/>
          <p:nvPr/>
        </p:nvSpPr>
        <p:spPr>
          <a:xfrm>
            <a:off x="4622927" y="1188720"/>
            <a:ext cx="0" cy="2066544"/>
          </a:xfrm>
          <a:prstGeom prst="line">
            <a:avLst/>
          </a:prstGeom>
          <a:noFill/>
          <a:ln w="12700">
            <a:solidFill>
              <a:srgbClr val="C9A227"/>
            </a:solidFill>
            <a:prstDash val="dash"/>
          </a:ln>
        </p:spPr>
        <p:txBody>
          <a:bodyPr/>
          <a:lstStyle/>
          <a:p>
            <a:endParaRPr lang="LID4096"/>
          </a:p>
        </p:txBody>
      </p:sp>
      <p:sp>
        <p:nvSpPr>
          <p:cNvPr id="58" name="Text 56"/>
          <p:cNvSpPr txBox="1"/>
          <p:nvPr/>
        </p:nvSpPr>
        <p:spPr>
          <a:xfrm>
            <a:off x="4650359" y="1097280"/>
            <a:ext cx="640080" cy="118872"/>
          </a:xfrm>
          <a:prstGeom prst="rect">
            <a:avLst/>
          </a:prstGeom>
          <a:noFill/>
          <a:ln/>
        </p:spPr>
        <p:txBody>
          <a:bodyPr wrap="square" lIns="0" tIns="0" rIns="0" bIns="0" rtlCol="0" anchor="t"/>
          <a:lstStyle/>
          <a:p>
            <a:pPr marL="0" indent="0" algn="l">
              <a:buNone/>
            </a:pPr>
            <a:r>
              <a:rPr lang="en-US" sz="650" b="1" dirty="0">
                <a:solidFill>
                  <a:srgbClr val="C9A227"/>
                </a:solidFill>
                <a:latin typeface="Arial" pitchFamily="34" charset="0"/>
                <a:ea typeface="Arial" pitchFamily="34" charset="-122"/>
                <a:cs typeface="Arial" pitchFamily="34" charset="-120"/>
              </a:rPr>
              <a:t>Target $249</a:t>
            </a:r>
            <a:endParaRPr lang="en-US" sz="650" dirty="0"/>
          </a:p>
        </p:txBody>
      </p:sp>
      <p:sp>
        <p:nvSpPr>
          <p:cNvPr id="59" name="Text 57"/>
          <p:cNvSpPr txBox="1"/>
          <p:nvPr/>
        </p:nvSpPr>
        <p:spPr>
          <a:xfrm>
            <a:off x="411480" y="3474720"/>
            <a:ext cx="6949440" cy="22860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Gold tick = base value. Grey bars are memo items not used in the target. Source: our model; Stock Analysis / S&amp;P Global MI (price range); broker targets reported 23-24 Sep 2026 (Baird $250, JPMorgan $260, TD Cowen $270, RBC $285, Oppenheimer $295, Evercore ISI $300).</a:t>
            </a:r>
            <a:endParaRPr lang="en-US" sz="650" dirty="0"/>
          </a:p>
        </p:txBody>
      </p:sp>
      <p:sp>
        <p:nvSpPr>
          <p:cNvPr id="60" name="Text 58"/>
          <p:cNvSpPr txBox="1"/>
          <p:nvPr/>
        </p:nvSpPr>
        <p:spPr>
          <a:xfrm>
            <a:off x="411480" y="3767328"/>
            <a:ext cx="338328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13: DCF value per share, WACC vs terminal growth</a:t>
            </a:r>
            <a:endParaRPr lang="en-US" sz="750" dirty="0"/>
          </a:p>
        </p:txBody>
      </p:sp>
      <p:graphicFrame>
        <p:nvGraphicFramePr>
          <p:cNvPr id="61" name="Table 0"/>
          <p:cNvGraphicFramePr>
            <a:graphicFrameLocks noGrp="1"/>
          </p:cNvGraphicFramePr>
          <p:nvPr>
            <p:extLst>
              <p:ext uri="{D42A27DB-BD31-4B8C-83A1-F6EECF244321}">
                <p14:modId xmlns:p14="http://schemas.microsoft.com/office/powerpoint/2010/main" val="901056149"/>
              </p:ext>
            </p:extLst>
          </p:nvPr>
        </p:nvGraphicFramePr>
        <p:xfrm>
          <a:off x="411480" y="3931920"/>
          <a:ext cx="3383280" cy="877824"/>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146304">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WACC \ 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6.56%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$322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$368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$430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7.06%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$317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$363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2"/>
                  </a:ext>
                </a:extLst>
              </a:tr>
              <a:tr h="146304">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7.56%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$206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$226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$277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$312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3"/>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8.06%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$273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4"/>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8.56%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$170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$184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2" name="Text 59"/>
          <p:cNvSpPr txBox="1"/>
          <p:nvPr/>
        </p:nvSpPr>
        <p:spPr>
          <a:xfrm>
            <a:off x="3977640" y="3767328"/>
            <a:ext cx="338328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14: Blended target price (comps held at $248)</a:t>
            </a:r>
            <a:endParaRPr lang="en-US" sz="750" dirty="0"/>
          </a:p>
        </p:txBody>
      </p:sp>
      <p:graphicFrame>
        <p:nvGraphicFramePr>
          <p:cNvPr id="63" name="Table 1"/>
          <p:cNvGraphicFramePr>
            <a:graphicFrameLocks noGrp="1"/>
          </p:cNvGraphicFramePr>
          <p:nvPr>
            <p:extLst>
              <p:ext uri="{D42A27DB-BD31-4B8C-83A1-F6EECF244321}">
                <p14:modId xmlns:p14="http://schemas.microsoft.com/office/powerpoint/2010/main" val="2360739392"/>
              </p:ext>
            </p:extLst>
          </p:nvPr>
        </p:nvGraphicFramePr>
        <p:xfrm>
          <a:off x="3977640" y="3931920"/>
          <a:ext cx="3383280" cy="877824"/>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146304">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WACC \ 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1.5%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6.56%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$270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$292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$357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7.06%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$251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$268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$317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2"/>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7.56%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$266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$287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3"/>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8.06%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$263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2EFDA"/>
                    </a:solidFill>
                  </a:tcPr>
                </a:tc>
                <a:extLst>
                  <a:ext uri="{0D108BD9-81ED-4DB2-BD59-A6C34878D82A}">
                    <a16:rowId xmlns:a16="http://schemas.microsoft.com/office/drawing/2014/main" val="10004"/>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8.56%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8D7DA"/>
                    </a:solidFill>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$219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4" name="Text 60"/>
          <p:cNvSpPr txBox="1"/>
          <p:nvPr/>
        </p:nvSpPr>
        <p:spPr>
          <a:xfrm>
            <a:off x="411480" y="4846320"/>
            <a:ext cx="6949440"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Green: Buy zone (target $253 or more, total return 10%+). Red: Sell zone ($206 or less, -10% or worse). Blue: base case. Total return includes the 3.3% dividend yield.</a:t>
            </a:r>
            <a:endParaRPr lang="en-US" sz="650" dirty="0"/>
          </a:p>
        </p:txBody>
      </p:sp>
      <p:sp>
        <p:nvSpPr>
          <p:cNvPr id="65" name="Text 61"/>
          <p:cNvSpPr txBox="1"/>
          <p:nvPr/>
        </p:nvSpPr>
        <p:spPr>
          <a:xfrm>
            <a:off x="411480" y="507492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15: Scenario analysis (WACC 7.56% and terminal growth 2.5% in all three cases)</a:t>
            </a:r>
            <a:endParaRPr lang="en-US" sz="750" dirty="0"/>
          </a:p>
        </p:txBody>
      </p:sp>
      <p:graphicFrame>
        <p:nvGraphicFramePr>
          <p:cNvPr id="66" name="Table 2"/>
          <p:cNvGraphicFramePr>
            <a:graphicFrameLocks noGrp="1"/>
          </p:cNvGraphicFramePr>
          <p:nvPr>
            <p:extLst>
              <p:ext uri="{D42A27DB-BD31-4B8C-83A1-F6EECF244321}">
                <p14:modId xmlns:p14="http://schemas.microsoft.com/office/powerpoint/2010/main" val="1579011935"/>
              </p:ext>
            </p:extLst>
          </p:nvPr>
        </p:nvGraphicFramePr>
        <p:xfrm>
          <a:off x="411480" y="5239512"/>
          <a:ext cx="6949440" cy="1298448"/>
        </p:xfrm>
        <a:graphic>
          <a:graphicData uri="http://schemas.openxmlformats.org/drawingml/2006/table">
            <a:tbl>
              <a:tblPr/>
              <a:tblGrid>
                <a:gridCol w="1828800">
                  <a:extLst>
                    <a:ext uri="{9D8B030D-6E8A-4147-A177-3AD203B41FA5}">
                      <a16:colId xmlns:a16="http://schemas.microsoft.com/office/drawing/2014/main" val="20000"/>
                    </a:ext>
                  </a:extLst>
                </a:gridCol>
                <a:gridCol w="1709928">
                  <a:extLst>
                    <a:ext uri="{9D8B030D-6E8A-4147-A177-3AD203B41FA5}">
                      <a16:colId xmlns:a16="http://schemas.microsoft.com/office/drawing/2014/main" val="20001"/>
                    </a:ext>
                  </a:extLst>
                </a:gridCol>
                <a:gridCol w="1709928">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tblGrid>
              <a:tr h="146304">
                <a:tc>
                  <a:txBody>
                    <a:bodyPr/>
                    <a:lstStyle/>
                    <a:p>
                      <a:pPr marL="0" indent="0" algn="l">
                        <a:buNone/>
                      </a:pP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Bear: traffic keeps falling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Base: our forecast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ctr">
                        <a:buNone/>
                      </a:pPr>
                      <a:r>
                        <a:rPr lang="en-US" sz="700" b="1" dirty="0">
                          <a:solidFill>
                            <a:srgbClr val="FFFFFF"/>
                          </a:solidFill>
                          <a:latin typeface="Arial" pitchFamily="34" charset="0"/>
                          <a:ea typeface="Arial" pitchFamily="34" charset="-122"/>
                          <a:cs typeface="Arial" pitchFamily="34" charset="-120"/>
                        </a:rPr>
                        <a:t>Bull: NEXT delivers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What happens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Value war, weak franchisee compliance; U.S. recovery slips past 2027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Recovery in 2027; margin at the low end of the 2030 target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Traffic returns; comps reach management's 3-4% range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Comparable sales, FY26 to FY30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1.0% rising to 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2.0% rising to 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2.5% rising to 3.5%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Adjusted operating margin, 2030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50.5%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53.0%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54.5%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FY30E EPS (annual growth FY25-30)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$14.23 (3.1%)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$16.21 (5.8%)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$17.29 (7.2%)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DCF value per share*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$211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$268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46304">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Blended target (vs $237.02)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b="1" dirty="0">
                          <a:solidFill>
                            <a:srgbClr val="262626"/>
                          </a:solidFill>
                          <a:latin typeface="Arial" pitchFamily="34" charset="0"/>
                          <a:ea typeface="Arial" pitchFamily="34" charset="-122"/>
                          <a:cs typeface="Arial" pitchFamily="34" charset="-120"/>
                        </a:rPr>
                        <a:t>$223 (-5.9%)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b="1" dirty="0">
                          <a:solidFill>
                            <a:srgbClr val="262626"/>
                          </a:solidFill>
                          <a:latin typeface="Arial" pitchFamily="34" charset="0"/>
                          <a:ea typeface="Arial" pitchFamily="34" charset="-122"/>
                          <a:cs typeface="Arial" pitchFamily="34" charset="-120"/>
                        </a:rPr>
                        <a:t>$249 (+4.9%)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b="1" dirty="0">
                          <a:solidFill>
                            <a:srgbClr val="262626"/>
                          </a:solidFill>
                          <a:latin typeface="Arial" pitchFamily="34" charset="0"/>
                          <a:ea typeface="Arial" pitchFamily="34" charset="-122"/>
                          <a:cs typeface="Arial" pitchFamily="34" charset="-120"/>
                        </a:rPr>
                        <a:t>$261 (+10.2%)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14630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Probability</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50%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700" dirty="0">
                          <a:solidFill>
                            <a:srgbClr val="262626"/>
                          </a:solidFill>
                          <a:latin typeface="Arial" pitchFamily="34" charset="0"/>
                          <a:ea typeface="Arial" pitchFamily="34" charset="-122"/>
                          <a:cs typeface="Arial" pitchFamily="34" charset="-120"/>
                        </a:rPr>
                        <a:t>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7" name="Text 62"/>
          <p:cNvSpPr txBox="1"/>
          <p:nvPr/>
        </p:nvSpPr>
        <p:spPr>
          <a:xfrm>
            <a:off x="411480" y="6537960"/>
            <a:ext cx="6949440" cy="256032"/>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*Bear and bull DCF values are rescaled from the original scenario runs to the 7.56% WACC, holding each case's enterprise value relative to the base. The bear case also assumes fewer openings and restructuring of $250m / $200m / $100m in 2026-28. Comps value moves with NTM EPS. Probability-weighted target: $245.</a:t>
            </a:r>
            <a:endParaRPr lang="en-US" sz="650" dirty="0"/>
          </a:p>
        </p:txBody>
      </p:sp>
      <p:sp>
        <p:nvSpPr>
          <p:cNvPr id="68" name="Text 63"/>
          <p:cNvSpPr txBox="1"/>
          <p:nvPr/>
        </p:nvSpPr>
        <p:spPr>
          <a:xfrm>
            <a:off x="411480" y="6839712"/>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16: Target price under each beta estimate</a:t>
            </a:r>
            <a:endParaRPr lang="en-US" sz="750" dirty="0"/>
          </a:p>
        </p:txBody>
      </p:sp>
      <p:graphicFrame>
        <p:nvGraphicFramePr>
          <p:cNvPr id="69" name="Table 3"/>
          <p:cNvGraphicFramePr>
            <a:graphicFrameLocks noGrp="1"/>
          </p:cNvGraphicFramePr>
          <p:nvPr>
            <p:extLst>
              <p:ext uri="{D42A27DB-BD31-4B8C-83A1-F6EECF244321}">
                <p14:modId xmlns:p14="http://schemas.microsoft.com/office/powerpoint/2010/main" val="1579011935"/>
              </p:ext>
            </p:extLst>
          </p:nvPr>
        </p:nvGraphicFramePr>
        <p:xfrm>
          <a:off x="411480" y="7004304"/>
          <a:ext cx="6949440" cy="850392"/>
        </p:xfrm>
        <a:graphic>
          <a:graphicData uri="http://schemas.openxmlformats.org/drawingml/2006/table">
            <a:tbl>
              <a:tblPr/>
              <a:tblGrid>
                <a:gridCol w="25603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141732">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Beta estimate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Beta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WACC</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DCF</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Target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Total return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r">
                        <a:buNone/>
                      </a:pPr>
                      <a:r>
                        <a:rPr lang="en-US" sz="700" b="1" dirty="0">
                          <a:solidFill>
                            <a:srgbClr val="FFFFFF"/>
                          </a:solidFill>
                          <a:latin typeface="Arial" pitchFamily="34" charset="0"/>
                          <a:ea typeface="Arial" pitchFamily="34" charset="-122"/>
                          <a:cs typeface="Arial" pitchFamily="34" charset="-120"/>
                        </a:rPr>
                        <a:t>Rating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Franchise-heavy median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0.52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7.22%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$270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$261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13.4%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Buy</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141732">
                <a:tc>
                  <a:txBody>
                    <a:bodyPr/>
                    <a:lstStyle/>
                    <a:p>
                      <a:pPr marL="0" indent="0" algn="l">
                        <a:buNone/>
                      </a:pPr>
                      <a:r>
                        <a:rPr lang="en-US" sz="700" b="1" dirty="0">
                          <a:solidFill>
                            <a:srgbClr val="262626"/>
                          </a:solidFill>
                          <a:latin typeface="Arial" pitchFamily="34" charset="0"/>
                          <a:ea typeface="Arial" pitchFamily="34" charset="-122"/>
                          <a:cs typeface="Arial" pitchFamily="34" charset="-120"/>
                        </a:rPr>
                        <a:t>Primary: franchise-heavy mean (bottom-up)</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0.60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7.56%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$249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8.1%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tc>
                  <a:txBody>
                    <a:bodyPr/>
                    <a:lstStyle/>
                    <a:p>
                      <a:pPr marL="0" indent="0" algn="r">
                        <a:buNone/>
                      </a:pPr>
                      <a:r>
                        <a:rPr lang="en-US" sz="700" b="1" dirty="0">
                          <a:solidFill>
                            <a:srgbClr val="262626"/>
                          </a:solidFill>
                          <a:latin typeface="Arial" pitchFamily="34" charset="0"/>
                          <a:ea typeface="Arial" pitchFamily="34" charset="-122"/>
                          <a:cs typeface="Arial" pitchFamily="34" charset="-120"/>
                        </a:rPr>
                        <a:t>Hold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DDEBF7"/>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75/25 blend with all peers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0.65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7.75%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$242</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5.3%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Hold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All five peers (bottom-up mean)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0.80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8.34%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$209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-1.9%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Hold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Earlier method: average of three WACCs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8.10%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$231</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0.9%</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r">
                        <a:buNone/>
                      </a:pPr>
                      <a:r>
                        <a:rPr lang="en-US" sz="700" dirty="0">
                          <a:solidFill>
                            <a:srgbClr val="262626"/>
                          </a:solidFill>
                          <a:latin typeface="Arial" pitchFamily="34" charset="0"/>
                          <a:ea typeface="Arial" pitchFamily="34" charset="-122"/>
                          <a:cs typeface="Arial" pitchFamily="34" charset="-120"/>
                        </a:rPr>
                        <a:t>Hold</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0" name="Text 64"/>
          <p:cNvSpPr txBox="1"/>
          <p:nvPr/>
        </p:nvSpPr>
        <p:spPr>
          <a:xfrm>
            <a:off x="411480" y="7936992"/>
            <a:ext cx="6949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What the ranges tell us</a:t>
            </a:r>
            <a:endParaRPr lang="en-US" sz="950" dirty="0"/>
          </a:p>
        </p:txBody>
      </p:sp>
      <p:sp>
        <p:nvSpPr>
          <p:cNvPr id="71" name="Text 65"/>
          <p:cNvSpPr txBox="1"/>
          <p:nvPr/>
        </p:nvSpPr>
        <p:spPr>
          <a:xfrm>
            <a:off x="411480" y="8138160"/>
            <a:ext cx="6949440" cy="1463040"/>
          </a:xfrm>
          <a:prstGeom prst="rect">
            <a:avLst/>
          </a:prstGeom>
          <a:noFill/>
          <a:ln/>
        </p:spPr>
        <p:txBody>
          <a:bodyPr wrap="square" lIns="0" tIns="0" rIns="0" bIns="0" rtlCol="0" anchor="t"/>
          <a:lstStyle/>
          <a:p>
            <a:pPr marL="0" indent="0">
              <a:spcAft>
                <a:spcPts val="350"/>
              </a:spcAft>
              <a:buNone/>
            </a:pPr>
            <a:r>
              <a:rPr lang="en-US" sz="760" b="1" dirty="0">
                <a:solidFill>
                  <a:srgbClr val="1F3864"/>
                </a:solidFill>
                <a:latin typeface="Arial" pitchFamily="34" charset="0"/>
                <a:ea typeface="Arial" pitchFamily="34" charset="-122"/>
                <a:cs typeface="Arial" pitchFamily="34" charset="-120"/>
              </a:rPr>
              <a:t>The discount rate matters as much as the business. </a:t>
            </a:r>
            <a:r>
              <a:rPr lang="en-US" sz="760" dirty="0">
                <a:solidFill>
                  <a:srgbClr val="262626"/>
                </a:solidFill>
                <a:latin typeface="Arial" pitchFamily="34" charset="0"/>
                <a:ea typeface="Arial" pitchFamily="34" charset="-122"/>
                <a:cs typeface="Arial" pitchFamily="34" charset="-120"/>
              </a:rPr>
              <a:t>Moving the WACC 0.5 points shifts the target by $16 to $19, more than moving from our base case to the bull case. With the 10-year Treasury near its highest since 2007, rates are a first-order risk for a stock with over 80% of its value in the terminal period.</a:t>
            </a:r>
            <a:endParaRPr lang="en-US" sz="760" dirty="0"/>
          </a:p>
          <a:p>
            <a:pPr marL="0" indent="0">
              <a:spcAft>
                <a:spcPts val="350"/>
              </a:spcAft>
              <a:buNone/>
            </a:pPr>
            <a:r>
              <a:rPr lang="en-US" sz="760" b="1" dirty="0">
                <a:solidFill>
                  <a:srgbClr val="1F3864"/>
                </a:solidFill>
                <a:latin typeface="Arial" pitchFamily="34" charset="0"/>
                <a:ea typeface="Arial" pitchFamily="34" charset="-122"/>
                <a:cs typeface="Arial" pitchFamily="34" charset="-120"/>
              </a:rPr>
              <a:t>Beta is the biggest single judgement. </a:t>
            </a:r>
            <a:r>
              <a:rPr lang="en-US" sz="760" dirty="0">
                <a:solidFill>
                  <a:srgbClr val="262626"/>
                </a:solidFill>
                <a:latin typeface="Arial" pitchFamily="34" charset="0"/>
                <a:ea typeface="Arial" pitchFamily="34" charset="-122"/>
                <a:cs typeface="Arial" pitchFamily="34" charset="-120"/>
              </a:rPr>
              <a:t>Our bottom-up beta (0.60) matches MCD's own adjusted beta. The franchise-heavy median would put MCD in Buy territory and the full peer set near today's price; we use the mean because the median of three discards Domino's higher operating risk.</a:t>
            </a:r>
            <a:endParaRPr lang="en-US" sz="760" dirty="0"/>
          </a:p>
          <a:p>
            <a:pPr marL="0" indent="0">
              <a:spcAft>
                <a:spcPts val="350"/>
              </a:spcAft>
              <a:buNone/>
            </a:pPr>
            <a:r>
              <a:rPr lang="en-US" sz="760" b="1" dirty="0">
                <a:solidFill>
                  <a:srgbClr val="1F3864"/>
                </a:solidFill>
                <a:latin typeface="Arial" pitchFamily="34" charset="0"/>
                <a:ea typeface="Arial" pitchFamily="34" charset="-122"/>
                <a:cs typeface="Arial" pitchFamily="34" charset="-120"/>
              </a:rPr>
              <a:t>Buy needs good news on traffic or lower rates. </a:t>
            </a:r>
            <a:r>
              <a:rPr lang="en-US" sz="760" dirty="0">
                <a:solidFill>
                  <a:srgbClr val="262626"/>
                </a:solidFill>
                <a:latin typeface="Arial" pitchFamily="34" charset="0"/>
                <a:ea typeface="Arial" pitchFamily="34" charset="-122"/>
                <a:cs typeface="Arial" pitchFamily="34" charset="-120"/>
              </a:rPr>
              <a:t>The base case is ~$4 short of the Buy line ($253); a WACC 0.5 points lower, or 0.5 points more long-run growth, crosses it. Only the harshest corner of the blended grid (8.56% WACC, 1.5% growth) reaches Sell.</a:t>
            </a:r>
            <a:endParaRPr lang="en-US" sz="7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228600"/>
            <a:ext cx="4937760" cy="164592"/>
          </a:xfrm>
          <a:prstGeom prst="rect">
            <a:avLst/>
          </a:prstGeom>
          <a:noFill/>
          <a:ln/>
        </p:spPr>
        <p:txBody>
          <a:bodyPr wrap="square" lIns="0" tIns="0" rIns="0" bIns="0" rtlCol="0" anchor="t"/>
          <a:lstStyle/>
          <a:p>
            <a:pPr marL="0" indent="0">
              <a:buNone/>
            </a:pPr>
            <a:r>
              <a:rPr lang="en-US" sz="700" b="1" dirty="0">
                <a:solidFill>
                  <a:srgbClr val="595959"/>
                </a:solidFill>
                <a:latin typeface="Arial" pitchFamily="34" charset="0"/>
                <a:ea typeface="Arial" pitchFamily="34" charset="-122"/>
                <a:cs typeface="Arial" pitchFamily="34" charset="-120"/>
              </a:rPr>
              <a:t>McDONALD'S CORPORATION (NYSE: MCD)  |  EQUITY RESEARCH  |  US RESTAURANTS</a:t>
            </a:r>
            <a:endParaRPr lang="en-US" sz="700" dirty="0"/>
          </a:p>
        </p:txBody>
      </p:sp>
      <p:sp>
        <p:nvSpPr>
          <p:cNvPr id="3" name="Text 1"/>
          <p:cNvSpPr txBox="1"/>
          <p:nvPr/>
        </p:nvSpPr>
        <p:spPr>
          <a:xfrm>
            <a:off x="5074920" y="228600"/>
            <a:ext cx="2286000" cy="164592"/>
          </a:xfrm>
          <a:prstGeom prst="rect">
            <a:avLst/>
          </a:prstGeom>
          <a:noFill/>
          <a:ln/>
        </p:spPr>
        <p:txBody>
          <a:bodyPr wrap="square" lIns="0" tIns="0" rIns="0" bIns="0" rtlCol="0" anchor="t"/>
          <a:lstStyle/>
          <a:p>
            <a:pPr marL="0" indent="0" algn="r">
              <a:buNone/>
            </a:pPr>
            <a:r>
              <a:rPr lang="en-US" sz="700" dirty="0">
                <a:solidFill>
                  <a:srgbClr val="595959"/>
                </a:solidFill>
                <a:latin typeface="Arial" pitchFamily="34" charset="0"/>
                <a:ea typeface="Arial" pitchFamily="34" charset="-122"/>
                <a:cs typeface="Arial" pitchFamily="34" charset="-120"/>
              </a:rPr>
              <a:t>25 September 2026 (revised 26 September)</a:t>
            </a:r>
            <a:endParaRPr lang="en-US" sz="700" dirty="0"/>
          </a:p>
        </p:txBody>
      </p:sp>
      <p:sp>
        <p:nvSpPr>
          <p:cNvPr id="4" name="Text 2"/>
          <p:cNvSpPr txBox="1"/>
          <p:nvPr/>
        </p:nvSpPr>
        <p:spPr>
          <a:xfrm>
            <a:off x="411480" y="9710928"/>
            <a:ext cx="4572000" cy="146304"/>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Student project, not investment advice. See disclaimer on page 6.</a:t>
            </a:r>
            <a:endParaRPr lang="en-US" sz="650" dirty="0"/>
          </a:p>
        </p:txBody>
      </p:sp>
      <p:sp>
        <p:nvSpPr>
          <p:cNvPr id="5" name="Text 3"/>
          <p:cNvSpPr txBox="1"/>
          <p:nvPr/>
        </p:nvSpPr>
        <p:spPr>
          <a:xfrm>
            <a:off x="5989320" y="9710928"/>
            <a:ext cx="1371600" cy="146304"/>
          </a:xfrm>
          <a:prstGeom prst="rect">
            <a:avLst/>
          </a:prstGeom>
          <a:noFill/>
          <a:ln/>
        </p:spPr>
        <p:txBody>
          <a:bodyPr wrap="square" lIns="0" tIns="0" rIns="0" bIns="0" rtlCol="0" anchor="t"/>
          <a:lstStyle/>
          <a:p>
            <a:pPr marL="0" indent="0" algn="r">
              <a:buNone/>
            </a:pPr>
            <a:r>
              <a:rPr lang="en-US" sz="650" dirty="0">
                <a:solidFill>
                  <a:srgbClr val="595959"/>
                </a:solidFill>
                <a:latin typeface="Arial" pitchFamily="34" charset="0"/>
                <a:ea typeface="Arial" pitchFamily="34" charset="-122"/>
                <a:cs typeface="Arial" pitchFamily="34" charset="-120"/>
              </a:rPr>
              <a:t>Page 6 of 6</a:t>
            </a:r>
            <a:endParaRPr lang="en-US" sz="650" dirty="0"/>
          </a:p>
        </p:txBody>
      </p:sp>
      <p:sp>
        <p:nvSpPr>
          <p:cNvPr id="6" name="Text 4"/>
          <p:cNvSpPr txBox="1"/>
          <p:nvPr/>
        </p:nvSpPr>
        <p:spPr>
          <a:xfrm>
            <a:off x="411480" y="457200"/>
            <a:ext cx="6949440" cy="292608"/>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Risks, catalysts and ESG</a:t>
            </a:r>
            <a:endParaRPr lang="en-US" sz="1500" dirty="0"/>
          </a:p>
        </p:txBody>
      </p:sp>
      <p:sp>
        <p:nvSpPr>
          <p:cNvPr id="7" name="Text 5"/>
          <p:cNvSpPr txBox="1"/>
          <p:nvPr/>
        </p:nvSpPr>
        <p:spPr>
          <a:xfrm>
            <a:off x="411480" y="758952"/>
            <a:ext cx="6949440" cy="182880"/>
          </a:xfrm>
          <a:prstGeom prst="rect">
            <a:avLst/>
          </a:prstGeom>
          <a:noFill/>
          <a:ln/>
        </p:spPr>
        <p:txBody>
          <a:bodyPr wrap="square" lIns="0" tIns="0" rIns="0" bIns="0" rtlCol="0" anchor="t"/>
          <a:lstStyle/>
          <a:p>
            <a:pPr marL="0" indent="0">
              <a:buNone/>
            </a:pPr>
            <a:r>
              <a:rPr lang="en-US" sz="900" i="1" dirty="0">
                <a:solidFill>
                  <a:srgbClr val="595959"/>
                </a:solidFill>
                <a:latin typeface="Arial" pitchFamily="34" charset="0"/>
                <a:ea typeface="Arial" pitchFamily="34" charset="-122"/>
                <a:cs typeface="Arial" pitchFamily="34" charset="-120"/>
              </a:rPr>
              <a:t>U.S. guest counts are the swing factor; the Q3 results are the next test</a:t>
            </a:r>
            <a:endParaRPr lang="en-US" sz="900" dirty="0"/>
          </a:p>
        </p:txBody>
      </p:sp>
      <p:sp>
        <p:nvSpPr>
          <p:cNvPr id="8" name="Text 6"/>
          <p:cNvSpPr txBox="1"/>
          <p:nvPr/>
        </p:nvSpPr>
        <p:spPr>
          <a:xfrm>
            <a:off x="411480" y="105156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17: Key risks to our view</a:t>
            </a:r>
            <a:endParaRPr lang="en-US" sz="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216152"/>
          <a:ext cx="694944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164592">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Risk</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Level</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What could happen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Effect on our value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2918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U.S. traffic keeps falling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High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 value war, weak franchisee compliance on value pricing or a poor Q4 marketing reset pushes the recovery past 2027; our 2% FY26 and 2.5-3% later comps would be too high.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Bear case: target $223</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Interest rates and beta</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High</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The 10-year Treasury is ~5.2% and terminal value is ~81% of EV; MCD trades like a bond proxy. A higher beta (all five peers, 0.80) lifts the WACC to 8.4%.</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WACC +0.5pp: DCF $222, target $233; all-peer beta: $225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Franchisee economics and NEXT cost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$8.5bn of support (rent relief and capital) through 2036, ~$5bn by 2030. Rent relief cuts franchised revenue; payback for McDonald's is 5-6 years, and after-tax ROIC already fell from 25% to 20%.</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2028-30 margin -1pp: target $245</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Execution and leadership</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Four launches in one quarter slowed service. New U.S. president (Skye Anderson). Restructuring charges every year since 2023. France and China weak.</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Delays the 2027 recovery</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Consumer, costs and regulation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Pressure on low-income customers, GLP-1 drugs, beef inflation and minimum-wage rises squeeze franchisee cash flow (~12.5% of sales in the U.S.).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Lower comps and slower openings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18288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Upside risk</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Faster traffic recovery (beverages, chicken, loyalty) or falling bond yields.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Bull $261; WACC -0.5pp: $268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7"/>
          <p:cNvSpPr txBox="1"/>
          <p:nvPr/>
        </p:nvSpPr>
        <p:spPr>
          <a:xfrm>
            <a:off x="411480" y="3474720"/>
            <a:ext cx="6949440" cy="155448"/>
          </a:xfrm>
          <a:prstGeom prst="rect">
            <a:avLst/>
          </a:prstGeom>
          <a:noFill/>
          <a:ln/>
        </p:spPr>
        <p:txBody>
          <a:bodyPr wrap="square" lIns="0" tIns="0" rIns="0" bIns="0" rtlCol="0" anchor="t"/>
          <a:lstStyle/>
          <a:p>
            <a:pPr marL="0" indent="0">
              <a:buNone/>
            </a:pPr>
            <a:r>
              <a:rPr lang="en-US" sz="750" b="1" dirty="0">
                <a:solidFill>
                  <a:srgbClr val="1F3864"/>
                </a:solidFill>
                <a:latin typeface="Arial" pitchFamily="34" charset="0"/>
                <a:ea typeface="Arial" pitchFamily="34" charset="-122"/>
                <a:cs typeface="Arial" pitchFamily="34" charset="-120"/>
              </a:rPr>
              <a:t>Figure 18: Catalyst calendar: what would support or challenge our estimates</a:t>
            </a:r>
            <a:endParaRPr lang="en-US" sz="7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11480" y="3639312"/>
          <a:ext cx="6949440" cy="914400"/>
        </p:xfrm>
        <a:graphic>
          <a:graphicData uri="http://schemas.openxmlformats.org/drawingml/2006/table">
            <a:tbl>
              <a:tblPr/>
              <a:tblGrid>
                <a:gridCol w="8686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164592">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When</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Event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Supports our case if</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tc>
                  <a:txBody>
                    <a:bodyPr/>
                    <a:lstStyle/>
                    <a:p>
                      <a:pPr marL="0" indent="0" algn="l">
                        <a:buNone/>
                      </a:pPr>
                      <a:r>
                        <a:rPr lang="en-US" sz="700" b="1" dirty="0">
                          <a:solidFill>
                            <a:srgbClr val="FFFFFF"/>
                          </a:solidFill>
                          <a:latin typeface="Arial" pitchFamily="34" charset="0"/>
                          <a:ea typeface="Arial" pitchFamily="34" charset="-122"/>
                          <a:cs typeface="Arial" pitchFamily="34" charset="-120"/>
                        </a:rPr>
                        <a:t>Challenges it if</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~4 Nov 2026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Q3 2026 results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U.S. comps no worse than the "slightly negative" guide, September positive, IOM and IDL accelerating</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U.S. guest counts fall further, or international comps do not accelerate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Q4 2026</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Value and marketing reset</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Franchisee compliance on the under-$3 tier rises from 60-65% and U.S. traffic turns positive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Competitors match on price and a value war squeezes franchisee cash flow</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Feb 2027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FY26 results, 2027 outlook</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G&amp;A starts falling as restructuring ends; FCF conversion back in the mid-80s%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Restructuring charges extend beyond 2027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H1 2027</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Menu roll-outs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Beverages across European IOM and hand-breaded chicken gain share</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Beverage checks fade as the novelty wears off</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End-2027 / 2028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Long-term targets</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250m loyalty users (end-2027); ~98% franchised and 50,000 restaurants (2028)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l">
                        <a:buNone/>
                      </a:pPr>
                      <a:r>
                        <a:rPr lang="en-US" sz="700" dirty="0">
                          <a:solidFill>
                            <a:srgbClr val="262626"/>
                          </a:solidFill>
                          <a:latin typeface="Arial" pitchFamily="34" charset="0"/>
                          <a:ea typeface="Arial" pitchFamily="34" charset="-122"/>
                          <a:cs typeface="Arial" pitchFamily="34" charset="-120"/>
                        </a:rPr>
                        <a:t>Unit targets slip again (50,000 already moved to 2028)</a:t>
                      </a:r>
                      <a:endParaRPr lang="en-US" sz="700" dirty="0">
                        <a:latin typeface="Arial" charset="0"/>
                        <a:ea typeface="Arial" charset="0"/>
                        <a:cs typeface="Arial" charset="0"/>
                      </a:endParaRPr>
                    </a:p>
                  </a:txBody>
                  <a:tcPr marL="38100" marR="38100" marT="12700" marB="1270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 8"/>
          <p:cNvSpPr txBox="1"/>
          <p:nvPr/>
        </p:nvSpPr>
        <p:spPr>
          <a:xfrm>
            <a:off x="411480" y="5394960"/>
            <a:ext cx="6949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Environmental, social and governance (ESG)</a:t>
            </a:r>
            <a:endParaRPr lang="en-US" sz="950" dirty="0"/>
          </a:p>
        </p:txBody>
      </p:sp>
      <p:sp>
        <p:nvSpPr>
          <p:cNvPr id="11" name="Text 9"/>
          <p:cNvSpPr txBox="1"/>
          <p:nvPr/>
        </p:nvSpPr>
        <p:spPr>
          <a:xfrm>
            <a:off x="411480" y="5596128"/>
            <a:ext cx="2240280" cy="146304"/>
          </a:xfrm>
          <a:prstGeom prst="rect">
            <a:avLst/>
          </a:prstGeom>
          <a:noFill/>
          <a:ln/>
        </p:spPr>
        <p:txBody>
          <a:bodyPr wrap="square" lIns="0" tIns="0" rIns="0" bIns="0" rtlCol="0" anchor="t"/>
          <a:lstStyle/>
          <a:p>
            <a:pPr marL="0" indent="0">
              <a:buNone/>
            </a:pPr>
            <a:r>
              <a:rPr lang="en-US" sz="800" b="1" dirty="0">
                <a:solidFill>
                  <a:srgbClr val="1F3864"/>
                </a:solidFill>
                <a:latin typeface="Arial" pitchFamily="34" charset="0"/>
                <a:ea typeface="Arial" pitchFamily="34" charset="-122"/>
                <a:cs typeface="Arial" pitchFamily="34" charset="-120"/>
              </a:rPr>
              <a:t>Environmental</a:t>
            </a:r>
            <a:endParaRPr lang="en-US" sz="800" dirty="0"/>
          </a:p>
        </p:txBody>
      </p:sp>
      <p:sp>
        <p:nvSpPr>
          <p:cNvPr id="14" name="Text 10"/>
          <p:cNvSpPr txBox="1"/>
          <p:nvPr/>
        </p:nvSpPr>
        <p:spPr>
          <a:xfrm>
            <a:off x="411480" y="5760720"/>
            <a:ext cx="2240280" cy="1143000"/>
          </a:xfrm>
          <a:prstGeom prst="rect">
            <a:avLst/>
          </a:prstGeom>
          <a:noFill/>
          <a:ln/>
        </p:spPr>
        <p:txBody>
          <a:bodyPr wrap="square" lIns="0" tIns="0" rIns="0" bIns="0" rtlCol="0" anchor="t"/>
          <a:lstStyle/>
          <a:p>
            <a:pPr marL="0" indent="0">
              <a:buNone/>
            </a:pPr>
            <a:r>
              <a:rPr lang="en-US" sz="720" dirty="0">
                <a:solidFill>
                  <a:srgbClr val="262626"/>
                </a:solidFill>
                <a:latin typeface="Arial" pitchFamily="34" charset="0"/>
                <a:ea typeface="Arial" pitchFamily="34" charset="-122"/>
                <a:cs typeface="Arial" pitchFamily="34" charset="-120"/>
              </a:rPr>
              <a:t>Science-based targets (2018 base): cut Scope 1 and 2 and Scope 3 energy and industrial emissions 50.4% by 2030, cut farming and land-use (FLAG) emissions 16%, net zero by 2050. Beef dominates the footprint: by 2023 Scope 2 was down 38% but Scope 3 only 4%, so the supply-chain goal looks hard to meet.</a:t>
            </a:r>
            <a:endParaRPr lang="en-US" sz="720" dirty="0"/>
          </a:p>
        </p:txBody>
      </p:sp>
      <p:sp>
        <p:nvSpPr>
          <p:cNvPr id="15" name="Text 11"/>
          <p:cNvSpPr txBox="1"/>
          <p:nvPr/>
        </p:nvSpPr>
        <p:spPr>
          <a:xfrm>
            <a:off x="2761488" y="5596128"/>
            <a:ext cx="2240280" cy="146304"/>
          </a:xfrm>
          <a:prstGeom prst="rect">
            <a:avLst/>
          </a:prstGeom>
          <a:noFill/>
          <a:ln/>
        </p:spPr>
        <p:txBody>
          <a:bodyPr wrap="square" lIns="0" tIns="0" rIns="0" bIns="0" rtlCol="0" anchor="t"/>
          <a:lstStyle/>
          <a:p>
            <a:pPr marL="0" indent="0">
              <a:buNone/>
            </a:pPr>
            <a:r>
              <a:rPr lang="en-US" sz="800" b="1" dirty="0">
                <a:solidFill>
                  <a:srgbClr val="1F3864"/>
                </a:solidFill>
                <a:latin typeface="Arial" pitchFamily="34" charset="0"/>
                <a:ea typeface="Arial" pitchFamily="34" charset="-122"/>
                <a:cs typeface="Arial" pitchFamily="34" charset="-120"/>
              </a:rPr>
              <a:t>Social</a:t>
            </a:r>
            <a:endParaRPr lang="en-US" sz="800" dirty="0"/>
          </a:p>
        </p:txBody>
      </p:sp>
      <p:sp>
        <p:nvSpPr>
          <p:cNvPr id="16" name="Text 12"/>
          <p:cNvSpPr txBox="1"/>
          <p:nvPr/>
        </p:nvSpPr>
        <p:spPr>
          <a:xfrm>
            <a:off x="2761488" y="5760720"/>
            <a:ext cx="2240280" cy="1143000"/>
          </a:xfrm>
          <a:prstGeom prst="rect">
            <a:avLst/>
          </a:prstGeom>
          <a:noFill/>
          <a:ln/>
        </p:spPr>
        <p:txBody>
          <a:bodyPr wrap="square" lIns="0" tIns="0" rIns="0" bIns="0" rtlCol="0" anchor="t"/>
          <a:lstStyle/>
          <a:p>
            <a:pPr marL="0" indent="0">
              <a:buNone/>
            </a:pPr>
            <a:r>
              <a:rPr lang="en-US" sz="720" dirty="0">
                <a:solidFill>
                  <a:srgbClr val="262626"/>
                </a:solidFill>
                <a:latin typeface="Arial" pitchFamily="34" charset="0"/>
                <a:ea typeface="Arial" pitchFamily="34" charset="-122"/>
                <a:cs typeface="Arial" pitchFamily="34" charset="-120"/>
              </a:rPr>
              <a:t>Franchisee relations are the key social asset and risk: value pricing needs franchisee buy-in (compliance is now part of business reviews) and NEXT relies on franchisee investment. Wage inflation, nutrition scrutiny and GLP-1 trends bear on the brand.</a:t>
            </a:r>
            <a:endParaRPr lang="en-US" sz="720" dirty="0"/>
          </a:p>
        </p:txBody>
      </p:sp>
      <p:sp>
        <p:nvSpPr>
          <p:cNvPr id="17" name="Text 13"/>
          <p:cNvSpPr txBox="1"/>
          <p:nvPr/>
        </p:nvSpPr>
        <p:spPr>
          <a:xfrm>
            <a:off x="5111496" y="5596128"/>
            <a:ext cx="2240280" cy="146304"/>
          </a:xfrm>
          <a:prstGeom prst="rect">
            <a:avLst/>
          </a:prstGeom>
          <a:noFill/>
          <a:ln/>
        </p:spPr>
        <p:txBody>
          <a:bodyPr wrap="square" lIns="0" tIns="0" rIns="0" bIns="0" rtlCol="0" anchor="t"/>
          <a:lstStyle/>
          <a:p>
            <a:pPr marL="0" indent="0">
              <a:buNone/>
            </a:pPr>
            <a:r>
              <a:rPr lang="en-US" sz="800" b="1" dirty="0">
                <a:solidFill>
                  <a:srgbClr val="1F3864"/>
                </a:solidFill>
                <a:latin typeface="Arial" pitchFamily="34" charset="0"/>
                <a:ea typeface="Arial" pitchFamily="34" charset="-122"/>
                <a:cs typeface="Arial" pitchFamily="34" charset="-120"/>
              </a:rPr>
              <a:t>Governance</a:t>
            </a:r>
            <a:endParaRPr lang="en-US" sz="800" dirty="0"/>
          </a:p>
        </p:txBody>
      </p:sp>
      <p:sp>
        <p:nvSpPr>
          <p:cNvPr id="18" name="Text 14"/>
          <p:cNvSpPr txBox="1"/>
          <p:nvPr/>
        </p:nvSpPr>
        <p:spPr>
          <a:xfrm>
            <a:off x="5111496" y="5760720"/>
            <a:ext cx="2240280" cy="1143000"/>
          </a:xfrm>
          <a:prstGeom prst="rect">
            <a:avLst/>
          </a:prstGeom>
          <a:noFill/>
          <a:ln/>
        </p:spPr>
        <p:txBody>
          <a:bodyPr wrap="square" lIns="0" tIns="0" rIns="0" bIns="0" rtlCol="0" anchor="t"/>
          <a:lstStyle/>
          <a:p>
            <a:pPr marL="0" indent="0">
              <a:buNone/>
            </a:pPr>
            <a:r>
              <a:rPr lang="en-US" sz="720" dirty="0">
                <a:solidFill>
                  <a:srgbClr val="262626"/>
                </a:solidFill>
                <a:latin typeface="Arial" pitchFamily="34" charset="0"/>
                <a:ea typeface="Arial" pitchFamily="34" charset="-122"/>
                <a:cs typeface="Arial" pitchFamily="34" charset="-120"/>
              </a:rPr>
              <a:t>The CEO is also Chairman, so board independence matters. FY25 audit and internal-control opinions are clean. Book equity is negative after decades of buybacks, but the investment-grade rating is a stated priority. "Adjusted" EPS has excluded restructuring every year since 2023; we treat it as recurring.</a:t>
            </a:r>
            <a:endParaRPr lang="en-US" sz="720" dirty="0"/>
          </a:p>
        </p:txBody>
      </p:sp>
      <p:sp>
        <p:nvSpPr>
          <p:cNvPr id="19" name="Text 15"/>
          <p:cNvSpPr txBox="1"/>
          <p:nvPr/>
        </p:nvSpPr>
        <p:spPr>
          <a:xfrm>
            <a:off x="411480" y="6931152"/>
            <a:ext cx="6949440" cy="137160"/>
          </a:xfrm>
          <a:prstGeom prst="rect">
            <a:avLst/>
          </a:prstGeom>
          <a:noFill/>
          <a:ln/>
        </p:spPr>
        <p:txBody>
          <a:bodyPr wrap="square" lIns="0" tIns="0" rIns="0" bIns="0" rtlCol="0" anchor="t"/>
          <a:lstStyle/>
          <a:p>
            <a:pPr marL="0" indent="0">
              <a:buNone/>
            </a:pPr>
            <a:r>
              <a:rPr lang="en-US" sz="650" dirty="0">
                <a:solidFill>
                  <a:srgbClr val="595959"/>
                </a:solidFill>
                <a:latin typeface="Arial" pitchFamily="34" charset="0"/>
                <a:ea typeface="Arial" pitchFamily="34" charset="-122"/>
                <a:cs typeface="Arial" pitchFamily="34" charset="-120"/>
              </a:rPr>
              <a:t>Sources: McDonald's 2025 10-K (Purpose &amp; Impact, audit report); SBTi-validated targets as reported in McDonald's Purpose &amp; Impact Report 2023-24; Q2 2026 call.</a:t>
            </a:r>
            <a:endParaRPr lang="en-US" sz="650" dirty="0"/>
          </a:p>
        </p:txBody>
      </p:sp>
      <p:sp>
        <p:nvSpPr>
          <p:cNvPr id="20" name="Text 16"/>
          <p:cNvSpPr txBox="1"/>
          <p:nvPr/>
        </p:nvSpPr>
        <p:spPr>
          <a:xfrm>
            <a:off x="411480" y="7132320"/>
            <a:ext cx="6949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Rating definitions and sources</a:t>
            </a:r>
            <a:endParaRPr lang="en-US" sz="950" dirty="0"/>
          </a:p>
        </p:txBody>
      </p:sp>
      <p:sp>
        <p:nvSpPr>
          <p:cNvPr id="21" name="Text 17"/>
          <p:cNvSpPr txBox="1"/>
          <p:nvPr/>
        </p:nvSpPr>
        <p:spPr>
          <a:xfrm>
            <a:off x="411480" y="7333488"/>
            <a:ext cx="6949440" cy="960120"/>
          </a:xfrm>
          <a:prstGeom prst="rect">
            <a:avLst/>
          </a:prstGeom>
          <a:noFill/>
          <a:ln/>
        </p:spPr>
        <p:txBody>
          <a:bodyPr wrap="square" lIns="0" tIns="0" rIns="0" bIns="0" rtlCol="0" anchor="t"/>
          <a:lstStyle/>
          <a:p>
            <a:pPr marL="0" indent="0">
              <a:buNone/>
            </a:pPr>
            <a:r>
              <a:rPr lang="en-US" sz="700" dirty="0">
                <a:solidFill>
                  <a:srgbClr val="262626"/>
                </a:solidFill>
                <a:latin typeface="Arial" pitchFamily="34" charset="0"/>
                <a:ea typeface="Arial" pitchFamily="34" charset="-122"/>
                <a:cs typeface="Arial" pitchFamily="34" charset="-120"/>
              </a:rPr>
              <a:t>Ratings are based on expected 12-month total return (price change plus dividends): Buy at +10% or more; Hold above -10% and below +10%; Sell at -10% or worse. Sources: McDonald's 2025 Annual Report and 10-K; Q2 2026 earnings release (4 Aug 2026), 10-Q and call; Investor Day transcript (23 Sep 2026); Stock Analysis / S&amp;P Global Market Intelligence (prices, peer data, 24-25 Sep 2026); Revenue Management Solutions, Black Box Intelligence and National Restaurant Association data via ClearCOGS (Jul 2026); Circana via Restaurant Dive (Jan 2026); Placer.ai via Fast Casual (Sep 2026); bottom-up beta method after Damodaran (NYU Stern); 2026 proxy statement; CFA Institute, Equity Research Report Essentials; BIWS IB Interview Guide, modules 4.4 and 4.5; our financial model (v5). Revised 26 Sep 2026: all market inputs at the 24-Sep close ($237.02 price vs a $240.09 intraday print; all five peer prices; 5.18% 10-year Treasury vs 5.10% on 23-Sep); comps use franchise-heavy peers; the WACC uses a 0.60 bottom-up beta (7.56% vs 8.04%); exact rating bands; target $251 to $249; rating unchanged.</a:t>
            </a:r>
            <a:endParaRPr lang="en-US" sz="700" dirty="0"/>
          </a:p>
        </p:txBody>
      </p:sp>
      <p:sp>
        <p:nvSpPr>
          <p:cNvPr id="22" name="Text 18"/>
          <p:cNvSpPr txBox="1"/>
          <p:nvPr/>
        </p:nvSpPr>
        <p:spPr>
          <a:xfrm>
            <a:off x="411480" y="8339328"/>
            <a:ext cx="6949440" cy="182880"/>
          </a:xfrm>
          <a:prstGeom prst="rect">
            <a:avLst/>
          </a:prstGeom>
          <a:noFill/>
          <a:ln/>
        </p:spPr>
        <p:txBody>
          <a:bodyPr wrap="square" lIns="0" tIns="0" rIns="0" bIns="0" rtlCol="0" anchor="t"/>
          <a:lstStyle/>
          <a:p>
            <a:pPr marL="0" indent="0">
              <a:buNone/>
            </a:pPr>
            <a:r>
              <a:rPr lang="en-US" sz="950" b="1" dirty="0">
                <a:solidFill>
                  <a:srgbClr val="1F3864"/>
                </a:solidFill>
                <a:latin typeface="Arial" pitchFamily="34" charset="0"/>
                <a:ea typeface="Arial" pitchFamily="34" charset="-122"/>
                <a:cs typeface="Arial" pitchFamily="34" charset="-120"/>
              </a:rPr>
              <a:t>Disclaimer</a:t>
            </a:r>
            <a:endParaRPr lang="en-US" sz="950" dirty="0"/>
          </a:p>
        </p:txBody>
      </p:sp>
      <p:sp>
        <p:nvSpPr>
          <p:cNvPr id="23" name="Text 19"/>
          <p:cNvSpPr txBox="1"/>
          <p:nvPr/>
        </p:nvSpPr>
        <p:spPr>
          <a:xfrm>
            <a:off x="411480" y="8531352"/>
            <a:ext cx="6949440" cy="1097280"/>
          </a:xfrm>
          <a:prstGeom prst="rect">
            <a:avLst/>
          </a:prstGeom>
          <a:noFill/>
          <a:ln/>
        </p:spPr>
        <p:txBody>
          <a:bodyPr wrap="square" lIns="0" tIns="0" rIns="0" bIns="0" rtlCol="0" anchor="t"/>
          <a:lstStyle/>
          <a:p>
            <a:pPr marL="0" indent="0">
              <a:buNone/>
            </a:pPr>
            <a:r>
              <a:rPr lang="en-US" sz="680" dirty="0">
                <a:solidFill>
                  <a:srgbClr val="595959"/>
                </a:solidFill>
                <a:latin typeface="Arial" pitchFamily="34" charset="0"/>
                <a:ea typeface="Arial" pitchFamily="34" charset="-122"/>
                <a:cs typeface="Arial" pitchFamily="34" charset="-120"/>
              </a:rPr>
              <a:t>This report is a student project prepared for educational purposes only. It is not investment advice, and it is not an offer, solicitation or recommendation to buy, sell or hold any security. The author is a student, is not a licensed financial adviser or registered research analyst, holds no position in McDonald's Corporation and received no compensation from any company mentioned. The report is based on public information believed to be reliable, but its accuracy and completeness are not guaranteed. Forecasts, valuations and opinions are the author's own as of 26 September 2026 and may change without notice. Past performance is not a guide to future returns, and investing involves the risk of loss. Readers should do their own research or consult a qualified professional before making any investment decision.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6082</Words>
  <Application>Microsoft Office PowerPoint</Application>
  <PresentationFormat>Custom</PresentationFormat>
  <Paragraphs>841</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McDonald's (MCD): Hold, target $249</dc:title>
  <dc:subject>PptxGenJS Presentation</dc:subject>
  <dc:creator>PptxGenJS</dc:creator>
  <cp:lastModifiedBy>William Challma</cp:lastModifiedBy>
  <cp:revision>1</cp:revision>
  <dcterms:created xsi:type="dcterms:W3CDTF">2026-09-26T18:22:35Z</dcterms:created>
  <dcterms:modified xsi:type="dcterms:W3CDTF">2026-09-27T14:42:03Z</dcterms:modified>
</cp:coreProperties>
</file>